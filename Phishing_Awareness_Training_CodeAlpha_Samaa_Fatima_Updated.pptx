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D9FF"/>
          </a:solidFill>
          <a:ln w="12700">
            <a:solidFill>
              <a:srgbClr val="26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C1B2D"/>
          </a:solidFill>
          <a:ln w="12700">
            <a:solidFill>
              <a:srgbClr val="0C1B2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MASTER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D9FF"/>
          </a:solidFill>
          <a:ln w="12700">
            <a:solidFill>
              <a:srgbClr val="26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7EDF3"/>
          </a:solidFill>
          <a:ln w="12700">
            <a:solidFill>
              <a:srgbClr val="E7EDF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1A0A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hyperlink" Target="https://www.cisa.gov/secure-our-world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hyperlink" Target="https://www.fbi.gov/how-we-can-help-you/common-frauds-and-scams/spoofing-and-phishing" TargetMode="External"/><Relationship Id="rId5" Type="http://schemas.openxmlformats.org/officeDocument/2006/relationships/hyperlink" Target="https://csrc.nist.gov/glossary/term/phishing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verizon.com/business/resources/reports/dbir/" TargetMode="External"/><Relationship Id="rId10" Type="http://schemas.openxmlformats.org/officeDocument/2006/relationships/hyperlink" Target="https://apwg.org/trendreports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7" Type="http://schemas.openxmlformats.org/officeDocument/2006/relationships/hyperlink" Target="https://www.fbi.gov/how-we-can-help-you/common-frauds-and-scams/business-email-compromise" TargetMode="External"/><Relationship Id="rId18" Type="http://schemas.openxmlformats.org/officeDocument/2006/relationships/hyperlink" Target="https://www.nist.gov/itl/smallbusinesscyber/guidance-topic/phishing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9" Type="http://schemas.openxmlformats.org/officeDocument/2006/relationships/hyperlink" Target="https://www.nist.gov/itl/smallbusinesscyber/guidance-topic/phishing" TargetMode="External"/><Relationship Id="rId20" Type="http://schemas.openxmlformats.org/officeDocument/2006/relationships/hyperlink" Target="https://security.googleblog.com/2019/08/understanding-why-phishing-attacks-are.html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image" Target="../media/image-6-17.png"/><Relationship Id="rId18" Type="http://schemas.openxmlformats.org/officeDocument/2006/relationships/image" Target="../media/image-6-18.svg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5" Type="http://schemas.openxmlformats.org/officeDocument/2006/relationships/hyperlink" Target="https://www.fbi.gov/how-we-can-help-you/common-frauds-and-scams/spoofing-and-phishing" TargetMode="External"/><Relationship Id="rId16" Type="http://schemas.openxmlformats.org/officeDocument/2006/relationships/hyperlink" Target="https://www.nist.gov/itl/smallbusinesscyber/guidance-topic/phishing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1" Type="http://schemas.openxmlformats.org/officeDocument/2006/relationships/hyperlink" Target="https://www.fbi.gov/how-we-can-help-you/common-frauds-and-scams/spoofing-and-phishing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hyperlink" Target="https://www.fbi.gov/how-we-can-help-you/common-frauds-and-scams/spoofing-and-phishing" TargetMode="External"/><Relationship Id="rId8" Type="http://schemas.openxmlformats.org/officeDocument/2006/relationships/hyperlink" Target="https://www.nist.gov/itl/smallbusinesscyber/guidance-topic/phishing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5" Type="http://schemas.openxmlformats.org/officeDocument/2006/relationships/hyperlink" Target="https://www.fbi.gov/how-we-can-help-you/common-frauds-and-scams/spoofing-and-phishing" TargetMode="External"/><Relationship Id="rId16" Type="http://schemas.openxmlformats.org/officeDocument/2006/relationships/hyperlink" Target="https://www.cisa.gov/secure-our-world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hyperlink" Target="https://www.justice.gov/usao-sdny/pr/lithuanian-man-sentenced-5-years-prison-theft-over-120-million-fraudulent-business" TargetMode="External"/><Relationship Id="rId14" Type="http://schemas.openxmlformats.org/officeDocument/2006/relationships/hyperlink" Target="https://www.fbi.gov/how-we-can-help-you/common-frauds-and-scams/business-email-compromise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hyperlink" Target="https://www.cisa.gov/secure-our-world" TargetMode="External"/><Relationship Id="rId14" Type="http://schemas.openxmlformats.org/officeDocument/2006/relationships/hyperlink" Target="https://www.fbi.gov/how-we-can-help-you/common-frauds-and-scams/spoofing-and-phishing" TargetMode="External"/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5" Type="http://schemas.openxmlformats.org/officeDocument/2006/relationships/slideLayout" Target="../slideLayouts/slideLayout3.xml"/><Relationship Id="rId1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hyperlink" Target="https://www.cisa.gov/secure-our-world" TargetMode="External"/><Relationship Id="rId6" Type="http://schemas.openxmlformats.org/officeDocument/2006/relationships/hyperlink" Target="https://www.cisa.gov/secure-our-world/turn-mfa" TargetMode="External"/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1" Type="http://schemas.openxmlformats.org/officeDocument/2006/relationships/hyperlink" Target="https://www.cisa.gov/secure-our-world" TargetMode="External"/><Relationship Id="rId12" Type="http://schemas.openxmlformats.org/officeDocument/2006/relationships/hyperlink" Target="https://www.fbi.gov/how-we-can-help-you/common-frauds-and-scams/spoofing-and-phishing" TargetMode="External"/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dark_cyber_security_conceptual_sce_batch_1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7111F">
              <a:alpha val="93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0B">
              <a:alpha val="45000"/>
            </a:srgbClr>
          </a:solidFill>
          <a:ln w="12700">
            <a:solidFill>
              <a:srgbClr val="02060B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8368" y="621792"/>
            <a:ext cx="2487168" cy="292608"/>
          </a:xfrm>
          <a:prstGeom prst="roundRect">
            <a:avLst>
              <a:gd name="adj" fmla="val 18750"/>
            </a:avLst>
          </a:prstGeom>
          <a:solidFill>
            <a:srgbClr val="26D9FF">
              <a:alpha val="15000"/>
            </a:srgbClr>
          </a:solidFill>
          <a:ln w="12700">
            <a:solidFill>
              <a:srgbClr val="26D9FF">
                <a:alpha val="5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649224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2 • CYBERSECURITY INTERNSHIP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58368" y="1325880"/>
            <a:ext cx="4709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PHISHING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AWARENESS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94944" y="349300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8E9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Recognize. React. Report. Prevent.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94944" y="4206240"/>
            <a:ext cx="3520440" cy="0"/>
          </a:xfrm>
          <a:prstGeom prst="line">
            <a:avLst/>
          </a:prstGeom>
          <a:noFill/>
          <a:ln w="27940">
            <a:solidFill>
              <a:srgbClr val="26D9FF">
                <a:alpha val="82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944" y="44988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Submitted by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94944" y="47365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Samaa Fatima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94944" y="52303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 CodeAlpha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94944" y="5980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D97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Cybersecurity Awareness Presentation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0CB5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AWARENESS FIRST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75488" y="72237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Phishing Awareness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12096" y="320040"/>
            <a:ext cx="1700784" cy="292608"/>
          </a:xfrm>
          <a:prstGeom prst="roundRect">
            <a:avLst>
              <a:gd name="adj" fmla="val 18750"/>
            </a:avLst>
          </a:prstGeom>
          <a:solidFill>
            <a:srgbClr val="4F8FFF">
              <a:alpha val="15000"/>
            </a:srgbClr>
          </a:solidFill>
          <a:ln w="12700">
            <a:solidFill>
              <a:srgbClr val="4F8FFF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85248" y="3474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8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CODEALPHA • TASK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10" dirty="0">
                <a:solidFill>
                  <a:srgbClr val="61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to memorize every scam. It is to build a repeatable safety habit for any suspicious message.</a:t>
            </a:r>
            <a:endParaRPr lang="en-US" sz="1410" dirty="0"/>
          </a:p>
        </p:txBody>
      </p:sp>
      <p:sp>
        <p:nvSpPr>
          <p:cNvPr id="7" name="Shape 5"/>
          <p:cNvSpPr/>
          <p:nvPr/>
        </p:nvSpPr>
        <p:spPr>
          <a:xfrm>
            <a:off x="1417320" y="2770632"/>
            <a:ext cx="9308592" cy="0"/>
          </a:xfrm>
          <a:prstGeom prst="line">
            <a:avLst/>
          </a:prstGeom>
          <a:noFill/>
          <a:ln w="27940">
            <a:solidFill>
              <a:srgbClr val="C9D5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660" y="2432304"/>
            <a:ext cx="676656" cy="676656"/>
          </a:xfrm>
          <a:prstGeom prst="ellipse">
            <a:avLst/>
          </a:prstGeom>
          <a:solidFill>
            <a:srgbClr val="0A2038"/>
          </a:solidFill>
          <a:ln w="25400">
            <a:solidFill>
              <a:srgbClr val="0CB5D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2540" y="2615184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1938528"/>
            <a:ext cx="1575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spc="120" kern="0" dirty="0">
                <a:solidFill>
                  <a:srgbClr val="0CB5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40" dirty="0"/>
          </a:p>
        </p:txBody>
      </p:sp>
      <p:sp>
        <p:nvSpPr>
          <p:cNvPr id="11" name="Text 8"/>
          <p:cNvSpPr/>
          <p:nvPr/>
        </p:nvSpPr>
        <p:spPr>
          <a:xfrm>
            <a:off x="612648" y="3273552"/>
            <a:ext cx="163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spc="60" kern="0" dirty="0">
                <a:solidFill>
                  <a:srgbClr val="0A20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640080" y="3648456"/>
            <a:ext cx="157581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2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 what phishing is and what attackers want.</a:t>
            </a:r>
            <a:endParaRPr lang="en-US" sz="970" dirty="0"/>
          </a:p>
        </p:txBody>
      </p:sp>
      <p:sp>
        <p:nvSpPr>
          <p:cNvPr id="13" name="Shape 10"/>
          <p:cNvSpPr/>
          <p:nvPr/>
        </p:nvSpPr>
        <p:spPr>
          <a:xfrm>
            <a:off x="2948940" y="2432304"/>
            <a:ext cx="676656" cy="676656"/>
          </a:xfrm>
          <a:prstGeom prst="ellipse">
            <a:avLst/>
          </a:prstGeom>
          <a:solidFill>
            <a:srgbClr val="0A2038"/>
          </a:solidFill>
          <a:ln w="25400">
            <a:solidFill>
              <a:srgbClr val="377D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31820" y="2615184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99360" y="1938528"/>
            <a:ext cx="1575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spc="120" kern="0" dirty="0">
                <a:solidFill>
                  <a:srgbClr val="377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40" dirty="0"/>
          </a:p>
        </p:txBody>
      </p:sp>
      <p:sp>
        <p:nvSpPr>
          <p:cNvPr id="16" name="Text 12"/>
          <p:cNvSpPr/>
          <p:nvPr/>
        </p:nvSpPr>
        <p:spPr>
          <a:xfrm>
            <a:off x="2471928" y="3273552"/>
            <a:ext cx="163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spc="60" kern="0" dirty="0">
                <a:solidFill>
                  <a:srgbClr val="0A20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</a:t>
            </a:r>
            <a:endParaRPr lang="en-US" sz="1080" dirty="0"/>
          </a:p>
        </p:txBody>
      </p:sp>
      <p:sp>
        <p:nvSpPr>
          <p:cNvPr id="17" name="Text 13"/>
          <p:cNvSpPr/>
          <p:nvPr/>
        </p:nvSpPr>
        <p:spPr>
          <a:xfrm>
            <a:off x="2499360" y="3648456"/>
            <a:ext cx="157581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2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Notice pressure, impersonation, links, attachments and fake domains.</a:t>
            </a:r>
            <a:endParaRPr lang="en-US" sz="970" dirty="0"/>
          </a:p>
        </p:txBody>
      </p:sp>
      <p:sp>
        <p:nvSpPr>
          <p:cNvPr id="18" name="Shape 14"/>
          <p:cNvSpPr/>
          <p:nvPr/>
        </p:nvSpPr>
        <p:spPr>
          <a:xfrm>
            <a:off x="4808220" y="2432304"/>
            <a:ext cx="676656" cy="676656"/>
          </a:xfrm>
          <a:prstGeom prst="ellipse">
            <a:avLst/>
          </a:prstGeom>
          <a:solidFill>
            <a:srgbClr val="0A2038"/>
          </a:solidFill>
          <a:ln w="25400">
            <a:solidFill>
              <a:srgbClr val="F1A93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91100" y="2615184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358640" y="1938528"/>
            <a:ext cx="1575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spc="120" kern="0" dirty="0">
                <a:solidFill>
                  <a:srgbClr val="F1A9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40" dirty="0"/>
          </a:p>
        </p:txBody>
      </p:sp>
      <p:sp>
        <p:nvSpPr>
          <p:cNvPr id="21" name="Text 16"/>
          <p:cNvSpPr/>
          <p:nvPr/>
        </p:nvSpPr>
        <p:spPr>
          <a:xfrm>
            <a:off x="4331208" y="3273552"/>
            <a:ext cx="163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spc="60" kern="0" dirty="0">
                <a:solidFill>
                  <a:srgbClr val="0A20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PAUSE</a:t>
            </a:r>
            <a:endParaRPr lang="en-US" sz="1080" dirty="0"/>
          </a:p>
        </p:txBody>
      </p:sp>
      <p:sp>
        <p:nvSpPr>
          <p:cNvPr id="22" name="Text 17"/>
          <p:cNvSpPr/>
          <p:nvPr/>
        </p:nvSpPr>
        <p:spPr>
          <a:xfrm>
            <a:off x="4358640" y="3648456"/>
            <a:ext cx="157581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2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let urgency or fear make the decision for you.</a:t>
            </a:r>
            <a:endParaRPr lang="en-US" sz="970" dirty="0"/>
          </a:p>
        </p:txBody>
      </p:sp>
      <p:sp>
        <p:nvSpPr>
          <p:cNvPr id="23" name="Shape 18"/>
          <p:cNvSpPr/>
          <p:nvPr/>
        </p:nvSpPr>
        <p:spPr>
          <a:xfrm>
            <a:off x="6667500" y="2432304"/>
            <a:ext cx="676656" cy="676656"/>
          </a:xfrm>
          <a:prstGeom prst="ellipse">
            <a:avLst/>
          </a:prstGeom>
          <a:solidFill>
            <a:srgbClr val="0A2038"/>
          </a:solidFill>
          <a:ln w="25400">
            <a:solidFill>
              <a:srgbClr val="21B887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0380" y="2615184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217920" y="1938528"/>
            <a:ext cx="1575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spc="120" kern="0" dirty="0">
                <a:solidFill>
                  <a:srgbClr val="21B8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40" dirty="0"/>
          </a:p>
        </p:txBody>
      </p:sp>
      <p:sp>
        <p:nvSpPr>
          <p:cNvPr id="26" name="Text 20"/>
          <p:cNvSpPr/>
          <p:nvPr/>
        </p:nvSpPr>
        <p:spPr>
          <a:xfrm>
            <a:off x="6190488" y="3273552"/>
            <a:ext cx="163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spc="60" kern="0" dirty="0">
                <a:solidFill>
                  <a:srgbClr val="0A20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080" dirty="0"/>
          </a:p>
        </p:txBody>
      </p:sp>
      <p:sp>
        <p:nvSpPr>
          <p:cNvPr id="27" name="Text 21"/>
          <p:cNvSpPr/>
          <p:nvPr/>
        </p:nvSpPr>
        <p:spPr>
          <a:xfrm>
            <a:off x="6217920" y="3648456"/>
            <a:ext cx="157581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2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the request through a trusted, independent channel.</a:t>
            </a:r>
            <a:endParaRPr lang="en-US" sz="970" dirty="0"/>
          </a:p>
        </p:txBody>
      </p:sp>
      <p:sp>
        <p:nvSpPr>
          <p:cNvPr id="28" name="Shape 22"/>
          <p:cNvSpPr/>
          <p:nvPr/>
        </p:nvSpPr>
        <p:spPr>
          <a:xfrm>
            <a:off x="8526780" y="2432304"/>
            <a:ext cx="676656" cy="676656"/>
          </a:xfrm>
          <a:prstGeom prst="ellipse">
            <a:avLst/>
          </a:prstGeom>
          <a:solidFill>
            <a:srgbClr val="0A2038"/>
          </a:solidFill>
          <a:ln w="25400">
            <a:solidFill>
              <a:srgbClr val="8A63D2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09660" y="2615184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077200" y="1938528"/>
            <a:ext cx="1575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spc="120" kern="0" dirty="0">
                <a:solidFill>
                  <a:srgbClr val="8A63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40" dirty="0"/>
          </a:p>
        </p:txBody>
      </p:sp>
      <p:sp>
        <p:nvSpPr>
          <p:cNvPr id="31" name="Text 24"/>
          <p:cNvSpPr/>
          <p:nvPr/>
        </p:nvSpPr>
        <p:spPr>
          <a:xfrm>
            <a:off x="8049768" y="3273552"/>
            <a:ext cx="163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spc="60" kern="0" dirty="0">
                <a:solidFill>
                  <a:srgbClr val="0A20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1080" dirty="0"/>
          </a:p>
        </p:txBody>
      </p:sp>
      <p:sp>
        <p:nvSpPr>
          <p:cNvPr id="32" name="Text 25"/>
          <p:cNvSpPr/>
          <p:nvPr/>
        </p:nvSpPr>
        <p:spPr>
          <a:xfrm>
            <a:off x="8077200" y="3648456"/>
            <a:ext cx="157581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2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Tell the right team or service before deleting the message.</a:t>
            </a:r>
            <a:endParaRPr lang="en-US" sz="970" dirty="0"/>
          </a:p>
        </p:txBody>
      </p:sp>
      <p:sp>
        <p:nvSpPr>
          <p:cNvPr id="33" name="Shape 26"/>
          <p:cNvSpPr/>
          <p:nvPr/>
        </p:nvSpPr>
        <p:spPr>
          <a:xfrm>
            <a:off x="10386060" y="2432304"/>
            <a:ext cx="676656" cy="676656"/>
          </a:xfrm>
          <a:prstGeom prst="ellipse">
            <a:avLst/>
          </a:prstGeom>
          <a:solidFill>
            <a:srgbClr val="0A2038"/>
          </a:solidFill>
          <a:ln w="25400">
            <a:solidFill>
              <a:srgbClr val="EF6578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68940" y="2615184"/>
            <a:ext cx="310896" cy="31089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936480" y="1938528"/>
            <a:ext cx="1575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spc="120" kern="0" dirty="0">
                <a:solidFill>
                  <a:srgbClr val="EF6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40" dirty="0"/>
          </a:p>
        </p:txBody>
      </p:sp>
      <p:sp>
        <p:nvSpPr>
          <p:cNvPr id="36" name="Text 28"/>
          <p:cNvSpPr/>
          <p:nvPr/>
        </p:nvSpPr>
        <p:spPr>
          <a:xfrm>
            <a:off x="9909048" y="3273552"/>
            <a:ext cx="163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spc="60" kern="0" dirty="0">
                <a:solidFill>
                  <a:srgbClr val="0A20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1080" dirty="0"/>
          </a:p>
        </p:txBody>
      </p:sp>
      <p:sp>
        <p:nvSpPr>
          <p:cNvPr id="37" name="Text 29"/>
          <p:cNvSpPr/>
          <p:nvPr/>
        </p:nvSpPr>
        <p:spPr>
          <a:xfrm>
            <a:off x="9936480" y="3648456"/>
            <a:ext cx="157581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2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same safety routine every time — even when a message looks polished.</a:t>
            </a:r>
            <a:endParaRPr lang="en-US" sz="970" dirty="0"/>
          </a:p>
        </p:txBody>
      </p:sp>
      <p:sp>
        <p:nvSpPr>
          <p:cNvPr id="38" name="Shape 30"/>
          <p:cNvSpPr/>
          <p:nvPr/>
        </p:nvSpPr>
        <p:spPr>
          <a:xfrm>
            <a:off x="566928" y="5074920"/>
            <a:ext cx="11045952" cy="768096"/>
          </a:xfrm>
          <a:prstGeom prst="roundRect">
            <a:avLst>
              <a:gd name="adj" fmla="val 9524"/>
            </a:avLst>
          </a:prstGeom>
          <a:solidFill>
            <a:srgbClr val="EAF7FB"/>
          </a:solidFill>
          <a:ln w="12700">
            <a:solidFill>
              <a:srgbClr val="B7E7F1"/>
            </a:solidFill>
            <a:prstDash val="solid"/>
          </a:ln>
          <a:effectLst>
            <a:outerShdw sx="100000" sy="100000" kx="0" ky="0" algn="bl" rotWithShape="0" blurRad="15240" dist="50800" dir="2700000">
              <a:srgbClr val="9BAABA">
                <a:alpha val="14000"/>
              </a:srgbClr>
            </a:outerShdw>
          </a:effectLst>
        </p:spPr>
      </p:sp>
      <p:sp>
        <p:nvSpPr>
          <p:cNvPr id="39" name="Text 31"/>
          <p:cNvSpPr/>
          <p:nvPr/>
        </p:nvSpPr>
        <p:spPr>
          <a:xfrm>
            <a:off x="841248" y="527608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spc="100" kern="0" dirty="0">
                <a:solidFill>
                  <a:srgbClr val="079B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AWARENESS HABIT</a:t>
            </a:r>
            <a:endParaRPr lang="en-US" sz="1020" dirty="0"/>
          </a:p>
        </p:txBody>
      </p:sp>
      <p:sp>
        <p:nvSpPr>
          <p:cNvPr id="40" name="Text 32"/>
          <p:cNvSpPr/>
          <p:nvPr/>
        </p:nvSpPr>
        <p:spPr>
          <a:xfrm>
            <a:off x="2423160" y="520293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40" b="1" dirty="0">
                <a:solidFill>
                  <a:srgbClr val="0A20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→ Check → Verify → Report → Protect</a:t>
            </a:r>
            <a:endParaRPr lang="en-US" sz="1840" dirty="0"/>
          </a:p>
        </p:txBody>
      </p:sp>
      <p:sp>
        <p:nvSpPr>
          <p:cNvPr id="41" name="Text 33"/>
          <p:cNvSpPr/>
          <p:nvPr/>
        </p:nvSpPr>
        <p:spPr>
          <a:xfrm>
            <a:off x="7040880" y="5239512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60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simple sequence is the main theme of the training.</a:t>
            </a:r>
            <a:endParaRPr lang="en-US" sz="1130" dirty="0"/>
          </a:p>
        </p:txBody>
      </p:sp>
      <p:sp>
        <p:nvSpPr>
          <p:cNvPr id="42" name="Text 34"/>
          <p:cNvSpPr/>
          <p:nvPr/>
        </p:nvSpPr>
        <p:spPr>
          <a:xfrm>
            <a:off x="475488" y="64556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u="sng" dirty="0">
                <a:solidFill>
                  <a:srgbClr val="98A7B4"/>
                </a:solidFill>
                <a:uFill>
                  <a:solidFill>
                    <a:srgbClr val="98A7B4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CISA — Secure Our World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1A0A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2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THE THREAT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phishing?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12096" y="283464"/>
            <a:ext cx="1700784" cy="292608"/>
          </a:xfrm>
          <a:prstGeom prst="roundRect">
            <a:avLst>
              <a:gd name="adj" fmla="val 18750"/>
            </a:avLst>
          </a:prstGeom>
          <a:solidFill>
            <a:srgbClr val="4F8FFF">
              <a:alpha val="15000"/>
            </a:srgbClr>
          </a:solidFill>
          <a:ln w="12700">
            <a:solidFill>
              <a:srgbClr val="4F8FFF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85248" y="3108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8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CODEALPHA • TASK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170432"/>
            <a:ext cx="4663440" cy="1115568"/>
          </a:xfrm>
          <a:prstGeom prst="roundRect">
            <a:avLst>
              <a:gd name="adj" fmla="val 6557"/>
            </a:avLst>
          </a:prstGeom>
          <a:solidFill>
            <a:srgbClr val="0E2034"/>
          </a:solidFill>
          <a:ln w="12700">
            <a:solidFill>
              <a:srgbClr val="1A4A6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1481328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1328" y="1353312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3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is a social engineering attack where an attacker pretends to be trusted to make someone reveal sensitive information or take an unsafe action.</a:t>
            </a:r>
            <a:endParaRPr lang="en-US" sz="1630" dirty="0"/>
          </a:p>
        </p:txBody>
      </p:sp>
      <p:pic>
        <p:nvPicPr>
          <p:cNvPr id="9" name="Image 1" descr="/mnt/data/a_cinematic_high_tech_dark_blue_digital_illustra_batch_2.png">    </p:cNvPr>
          <p:cNvPicPr>
            <a:picLocks noChangeAspect="1"/>
          </p:cNvPicPr>
          <p:nvPr/>
        </p:nvPicPr>
        <p:blipFill>
          <a:blip r:embed="rId3"/>
          <a:srcRect l="0" r="0" t="5783" b="5783"/>
          <a:stretch/>
        </p:blipFill>
        <p:spPr>
          <a:xfrm>
            <a:off x="5623560" y="1170432"/>
            <a:ext cx="5989320" cy="29809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623560" y="1170432"/>
            <a:ext cx="5989320" cy="2980944"/>
          </a:xfrm>
          <a:prstGeom prst="roundRect">
            <a:avLst/>
          </a:prstGeom>
          <a:solidFill>
            <a:srgbClr val="07111F">
              <a:alpha val="0"/>
            </a:srgbClr>
          </a:solidFill>
          <a:ln w="15240">
            <a:solidFill>
              <a:srgbClr val="1D5775">
                <a:alpha val="80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66928" y="2578608"/>
            <a:ext cx="1083564" cy="1115568"/>
          </a:xfrm>
          <a:prstGeom prst="roundRect">
            <a:avLst>
              <a:gd name="adj" fmla="val 6751"/>
            </a:avLst>
          </a:prstGeom>
          <a:solidFill>
            <a:srgbClr val="0C1B2D"/>
          </a:solidFill>
          <a:ln w="12700">
            <a:solidFill>
              <a:srgbClr val="17314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0080" y="2743200"/>
            <a:ext cx="9372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spc="60" kern="0" dirty="0">
                <a:solidFill>
                  <a:srgbClr val="2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ATTACKER</a:t>
            </a:r>
            <a:endParaRPr lang="en-US" sz="920" dirty="0"/>
          </a:p>
        </p:txBody>
      </p:sp>
      <p:sp>
        <p:nvSpPr>
          <p:cNvPr id="13" name="Text 9"/>
          <p:cNvSpPr/>
          <p:nvPr/>
        </p:nvSpPr>
        <p:spPr>
          <a:xfrm>
            <a:off x="640080" y="3017520"/>
            <a:ext cx="9372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Pretends to be trusted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1672438" y="3136392"/>
            <a:ext cx="71323" cy="0"/>
          </a:xfrm>
          <a:prstGeom prst="line">
            <a:avLst/>
          </a:prstGeom>
          <a:noFill/>
          <a:ln w="20320">
            <a:solidFill>
              <a:srgbClr val="26D9FF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1760220" y="2578608"/>
            <a:ext cx="1083564" cy="1115568"/>
          </a:xfrm>
          <a:prstGeom prst="roundRect">
            <a:avLst>
              <a:gd name="adj" fmla="val 6751"/>
            </a:avLst>
          </a:prstGeom>
          <a:solidFill>
            <a:srgbClr val="0C1B2D"/>
          </a:solidFill>
          <a:ln w="12700">
            <a:solidFill>
              <a:srgbClr val="17314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833372" y="2743200"/>
            <a:ext cx="9372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spc="60" kern="0" dirty="0">
                <a:solidFill>
                  <a:srgbClr val="2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</a:t>
            </a:r>
            <a:endParaRPr lang="en-US" sz="920" dirty="0"/>
          </a:p>
        </p:txBody>
      </p:sp>
      <p:sp>
        <p:nvSpPr>
          <p:cNvPr id="17" name="Text 13"/>
          <p:cNvSpPr/>
          <p:nvPr/>
        </p:nvSpPr>
        <p:spPr>
          <a:xfrm>
            <a:off x="1833372" y="3017520"/>
            <a:ext cx="9372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Looks convincing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2865730" y="3136392"/>
            <a:ext cx="71323" cy="0"/>
          </a:xfrm>
          <a:prstGeom prst="line">
            <a:avLst/>
          </a:prstGeom>
          <a:noFill/>
          <a:ln w="20320">
            <a:solidFill>
              <a:srgbClr val="26D9FF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2953512" y="2578608"/>
            <a:ext cx="1083564" cy="1115568"/>
          </a:xfrm>
          <a:prstGeom prst="roundRect">
            <a:avLst>
              <a:gd name="adj" fmla="val 6751"/>
            </a:avLst>
          </a:prstGeom>
          <a:solidFill>
            <a:srgbClr val="0C1B2D"/>
          </a:solidFill>
          <a:ln w="12700">
            <a:solidFill>
              <a:srgbClr val="17314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026664" y="2743200"/>
            <a:ext cx="9372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spc="60" kern="0" dirty="0">
                <a:solidFill>
                  <a:srgbClr val="2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VICTIM</a:t>
            </a:r>
            <a:endParaRPr lang="en-US" sz="920" dirty="0"/>
          </a:p>
        </p:txBody>
      </p:sp>
      <p:sp>
        <p:nvSpPr>
          <p:cNvPr id="21" name="Text 17"/>
          <p:cNvSpPr/>
          <p:nvPr/>
        </p:nvSpPr>
        <p:spPr>
          <a:xfrm>
            <a:off x="3026664" y="3017520"/>
            <a:ext cx="9372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Reacts quickly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059022" y="3136392"/>
            <a:ext cx="71323" cy="0"/>
          </a:xfrm>
          <a:prstGeom prst="line">
            <a:avLst/>
          </a:prstGeom>
          <a:noFill/>
          <a:ln w="20320">
            <a:solidFill>
              <a:srgbClr val="26D9FF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4146804" y="2578608"/>
            <a:ext cx="1083564" cy="1115568"/>
          </a:xfrm>
          <a:prstGeom prst="roundRect">
            <a:avLst>
              <a:gd name="adj" fmla="val 6751"/>
            </a:avLst>
          </a:prstGeom>
          <a:solidFill>
            <a:srgbClr val="102A32"/>
          </a:solidFill>
          <a:ln w="12700">
            <a:solidFill>
              <a:srgbClr val="2C7E6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219956" y="2743200"/>
            <a:ext cx="9372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spc="60" kern="0" dirty="0">
                <a:solidFill>
                  <a:srgbClr val="57E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920" dirty="0"/>
          </a:p>
        </p:txBody>
      </p:sp>
      <p:sp>
        <p:nvSpPr>
          <p:cNvPr id="25" name="Text 21"/>
          <p:cNvSpPr/>
          <p:nvPr/>
        </p:nvSpPr>
        <p:spPr>
          <a:xfrm>
            <a:off x="4219956" y="3017520"/>
            <a:ext cx="9372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or access may be lost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566928" y="3977640"/>
            <a:ext cx="11045952" cy="1572768"/>
          </a:xfrm>
          <a:prstGeom prst="roundRect">
            <a:avLst>
              <a:gd name="adj" fmla="val 4651"/>
            </a:avLst>
          </a:prstGeom>
          <a:solidFill>
            <a:srgbClr val="091827"/>
          </a:solidFill>
          <a:ln w="12700">
            <a:solidFill>
              <a:srgbClr val="20445C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41248" y="4224528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FFC857">
              <a:alpha val="15000"/>
            </a:srgbClr>
          </a:solidFill>
          <a:ln w="12700">
            <a:solidFill>
              <a:srgbClr val="FFC857">
                <a:alpha val="55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14400" y="4251960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EXAMPLE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841248" y="4590288"/>
            <a:ext cx="6949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“Your account will be suspended today. Verify your account now.”</a:t>
            </a:r>
            <a:endParaRPr lang="en-US" sz="2050" dirty="0"/>
          </a:p>
        </p:txBody>
      </p:sp>
      <p:sp>
        <p:nvSpPr>
          <p:cNvPr id="30" name="Text 26"/>
          <p:cNvSpPr/>
          <p:nvPr/>
        </p:nvSpPr>
        <p:spPr>
          <a:xfrm>
            <a:off x="7909560" y="431596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works: the message creates urgency and fear, so the person may click before checking who actually sent it.</a:t>
            </a:r>
            <a:endParaRPr lang="en-US" sz="1270" dirty="0"/>
          </a:p>
        </p:txBody>
      </p:sp>
      <p:sp>
        <p:nvSpPr>
          <p:cNvPr id="31" name="Text 27"/>
          <p:cNvSpPr/>
          <p:nvPr/>
        </p:nvSpPr>
        <p:spPr>
          <a:xfrm>
            <a:off x="566928" y="64556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6F879D"/>
                </a:solidFill>
                <a:uFill>
                  <a:solidFill>
                    <a:srgbClr val="6F879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FBI — Spoofing &amp; Phishing</a:t>
            </a:r>
            <a:pPr indent="0" marL="0">
              <a:buNone/>
            </a:pPr>
            <a:r>
              <a:rPr lang="en-US" sz="750" dirty="0">
                <a:solidFill>
                  <a:srgbClr val="6F8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750" u="sng" dirty="0">
                <a:solidFill>
                  <a:srgbClr val="6F879D"/>
                </a:solidFill>
                <a:uFill>
                  <a:solidFill>
                    <a:srgbClr val="6F879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NIST — Phishing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2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AWARENESS MATTERS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Phishing by the numbers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12096" y="283464"/>
            <a:ext cx="1700784" cy="292608"/>
          </a:xfrm>
          <a:prstGeom prst="roundRect">
            <a:avLst>
              <a:gd name="adj" fmla="val 18750"/>
            </a:avLst>
          </a:prstGeom>
          <a:solidFill>
            <a:srgbClr val="4F8FFF">
              <a:alpha val="15000"/>
            </a:srgbClr>
          </a:solidFill>
          <a:ln w="12700">
            <a:solidFill>
              <a:srgbClr val="4F8FFF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85248" y="3108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8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CODEALPHA • TASK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0698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 reports show why phishing awareness must cover people, messages, mobile channels and business email compromise.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1755648"/>
            <a:ext cx="2313432" cy="3639312"/>
          </a:xfrm>
          <a:prstGeom prst="roundRect">
            <a:avLst>
              <a:gd name="adj" fmla="val 3162"/>
            </a:avLst>
          </a:prstGeom>
          <a:solidFill>
            <a:srgbClr val="0D2138"/>
          </a:solidFill>
          <a:ln w="12700">
            <a:solidFill>
              <a:srgbClr val="1C40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1993392"/>
            <a:ext cx="566928" cy="566928"/>
          </a:xfrm>
          <a:prstGeom prst="ellipse">
            <a:avLst/>
          </a:prstGeom>
          <a:solidFill>
            <a:srgbClr val="12304B"/>
          </a:solidFill>
          <a:ln w="12700">
            <a:solidFill>
              <a:srgbClr val="26D9FF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4159" y="2129455"/>
            <a:ext cx="294803" cy="2948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276148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6D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60%</a:t>
            </a:r>
            <a:endParaRPr lang="en-US" sz="3100" dirty="0"/>
          </a:p>
        </p:txBody>
      </p:sp>
      <p:sp>
        <p:nvSpPr>
          <p:cNvPr id="11" name="Text 8"/>
          <p:cNvSpPr/>
          <p:nvPr/>
        </p:nvSpPr>
        <p:spPr>
          <a:xfrm>
            <a:off x="768096" y="341985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element</a:t>
            </a:r>
            <a:endParaRPr lang="en-US" sz="1240" dirty="0"/>
          </a:p>
        </p:txBody>
      </p:sp>
      <p:sp>
        <p:nvSpPr>
          <p:cNvPr id="12" name="Text 9"/>
          <p:cNvSpPr/>
          <p:nvPr/>
        </p:nvSpPr>
        <p:spPr>
          <a:xfrm>
            <a:off x="768096" y="3822192"/>
            <a:ext cx="19019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breaches analyzed in Verizon’s 2025 DBIR involved some kind of human element.</a:t>
            </a:r>
            <a:endParaRPr lang="en-US" sz="1040" dirty="0"/>
          </a:p>
        </p:txBody>
      </p:sp>
      <p:sp>
        <p:nvSpPr>
          <p:cNvPr id="13" name="Text 10"/>
          <p:cNvSpPr/>
          <p:nvPr/>
        </p:nvSpPr>
        <p:spPr>
          <a:xfrm>
            <a:off x="768096" y="488289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6F8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Verizon DBIR 2025</a:t>
            </a:r>
            <a:endParaRPr lang="en-US" sz="840" dirty="0"/>
          </a:p>
        </p:txBody>
      </p:sp>
      <p:sp>
        <p:nvSpPr>
          <p:cNvPr id="14" name="Shape 11"/>
          <p:cNvSpPr/>
          <p:nvPr/>
        </p:nvSpPr>
        <p:spPr>
          <a:xfrm>
            <a:off x="3374136" y="1755648"/>
            <a:ext cx="2313432" cy="3639312"/>
          </a:xfrm>
          <a:prstGeom prst="roundRect">
            <a:avLst>
              <a:gd name="adj" fmla="val 3162"/>
            </a:avLst>
          </a:prstGeom>
          <a:solidFill>
            <a:srgbClr val="0D2138"/>
          </a:solidFill>
          <a:ln w="12700">
            <a:solidFill>
              <a:srgbClr val="1C40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75304" y="1993392"/>
            <a:ext cx="566928" cy="566928"/>
          </a:xfrm>
          <a:prstGeom prst="ellipse">
            <a:avLst/>
          </a:prstGeom>
          <a:solidFill>
            <a:srgbClr val="12304B"/>
          </a:solidFill>
          <a:ln w="12700">
            <a:solidFill>
              <a:srgbClr val="4F8FFF">
                <a:alpha val="50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1367" y="2129455"/>
            <a:ext cx="294803" cy="29480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75304" y="276148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4F8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425,808</a:t>
            </a:r>
            <a:endParaRPr lang="en-US" sz="2500" dirty="0"/>
          </a:p>
        </p:txBody>
      </p:sp>
      <p:sp>
        <p:nvSpPr>
          <p:cNvPr id="18" name="Text 14"/>
          <p:cNvSpPr/>
          <p:nvPr/>
        </p:nvSpPr>
        <p:spPr>
          <a:xfrm>
            <a:off x="3575304" y="341985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attacks</a:t>
            </a:r>
            <a:endParaRPr lang="en-US" sz="1240" dirty="0"/>
          </a:p>
        </p:txBody>
      </p:sp>
      <p:sp>
        <p:nvSpPr>
          <p:cNvPr id="19" name="Text 15"/>
          <p:cNvSpPr/>
          <p:nvPr/>
        </p:nvSpPr>
        <p:spPr>
          <a:xfrm>
            <a:off x="3575304" y="3822192"/>
            <a:ext cx="19019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tallied by APWG in June 2026 — the highest monthly total since April 2023.</a:t>
            </a:r>
            <a:endParaRPr lang="en-US" sz="1040" dirty="0"/>
          </a:p>
        </p:txBody>
      </p:sp>
      <p:sp>
        <p:nvSpPr>
          <p:cNvPr id="20" name="Text 16"/>
          <p:cNvSpPr/>
          <p:nvPr/>
        </p:nvSpPr>
        <p:spPr>
          <a:xfrm>
            <a:off x="3575304" y="488289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6F8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APWG Q2 2026</a:t>
            </a:r>
            <a:endParaRPr lang="en-US" sz="840" dirty="0"/>
          </a:p>
        </p:txBody>
      </p:sp>
      <p:sp>
        <p:nvSpPr>
          <p:cNvPr id="21" name="Shape 17"/>
          <p:cNvSpPr/>
          <p:nvPr/>
        </p:nvSpPr>
        <p:spPr>
          <a:xfrm>
            <a:off x="6181344" y="1755648"/>
            <a:ext cx="2313432" cy="3639312"/>
          </a:xfrm>
          <a:prstGeom prst="roundRect">
            <a:avLst>
              <a:gd name="adj" fmla="val 3162"/>
            </a:avLst>
          </a:prstGeom>
          <a:solidFill>
            <a:srgbClr val="0D2138"/>
          </a:solidFill>
          <a:ln w="12700">
            <a:solidFill>
              <a:srgbClr val="1C405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382512" y="1993392"/>
            <a:ext cx="566928" cy="566928"/>
          </a:xfrm>
          <a:prstGeom prst="ellipse">
            <a:avLst/>
          </a:prstGeom>
          <a:solidFill>
            <a:srgbClr val="12304B"/>
          </a:solidFill>
          <a:ln w="12700">
            <a:solidFill>
              <a:srgbClr val="57E6A8">
                <a:alpha val="50000"/>
              </a:srgbClr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18575" y="2129455"/>
            <a:ext cx="294803" cy="29480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82512" y="276148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57E6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+40%</a:t>
            </a:r>
            <a:endParaRPr lang="en-US" sz="3100" dirty="0"/>
          </a:p>
        </p:txBody>
      </p:sp>
      <p:sp>
        <p:nvSpPr>
          <p:cNvPr id="25" name="Text 20"/>
          <p:cNvSpPr/>
          <p:nvPr/>
        </p:nvSpPr>
        <p:spPr>
          <a:xfrm>
            <a:off x="6382512" y="341985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Smishing growth</a:t>
            </a:r>
            <a:endParaRPr lang="en-US" sz="1240" dirty="0"/>
          </a:p>
        </p:txBody>
      </p:sp>
      <p:sp>
        <p:nvSpPr>
          <p:cNvPr id="26" name="Text 21"/>
          <p:cNvSpPr/>
          <p:nvPr/>
        </p:nvSpPr>
        <p:spPr>
          <a:xfrm>
            <a:off x="6382512" y="3822192"/>
            <a:ext cx="19019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 in SMS/text phishing from Q1 to Q2 2026.</a:t>
            </a:r>
            <a:endParaRPr lang="en-US" sz="1040" dirty="0"/>
          </a:p>
        </p:txBody>
      </p:sp>
      <p:sp>
        <p:nvSpPr>
          <p:cNvPr id="27" name="Text 22"/>
          <p:cNvSpPr/>
          <p:nvPr/>
        </p:nvSpPr>
        <p:spPr>
          <a:xfrm>
            <a:off x="6382512" y="488289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6F8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APWG Q2 2026</a:t>
            </a:r>
            <a:endParaRPr lang="en-US" sz="840" dirty="0"/>
          </a:p>
        </p:txBody>
      </p:sp>
      <p:sp>
        <p:nvSpPr>
          <p:cNvPr id="28" name="Shape 23"/>
          <p:cNvSpPr/>
          <p:nvPr/>
        </p:nvSpPr>
        <p:spPr>
          <a:xfrm>
            <a:off x="8988552" y="1755648"/>
            <a:ext cx="2313432" cy="3639312"/>
          </a:xfrm>
          <a:prstGeom prst="roundRect">
            <a:avLst>
              <a:gd name="adj" fmla="val 3162"/>
            </a:avLst>
          </a:prstGeom>
          <a:solidFill>
            <a:srgbClr val="0D2138"/>
          </a:solidFill>
          <a:ln w="12700">
            <a:solidFill>
              <a:srgbClr val="1C405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9189720" y="1993392"/>
            <a:ext cx="566928" cy="566928"/>
          </a:xfrm>
          <a:prstGeom prst="ellipse">
            <a:avLst/>
          </a:prstGeom>
          <a:solidFill>
            <a:srgbClr val="12304B"/>
          </a:solidFill>
          <a:ln w="12700">
            <a:solidFill>
              <a:srgbClr val="FFC857">
                <a:alpha val="50000"/>
              </a:srgbClr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25783" y="2129455"/>
            <a:ext cx="294803" cy="294803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189720" y="276148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C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+88%</a:t>
            </a:r>
            <a:endParaRPr lang="en-US" sz="3100" dirty="0"/>
          </a:p>
        </p:txBody>
      </p:sp>
      <p:sp>
        <p:nvSpPr>
          <p:cNvPr id="32" name="Text 26"/>
          <p:cNvSpPr/>
          <p:nvPr/>
        </p:nvSpPr>
        <p:spPr>
          <a:xfrm>
            <a:off x="9189720" y="341985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Wire-transfer BEC</a:t>
            </a:r>
            <a:endParaRPr lang="en-US" sz="1240" dirty="0"/>
          </a:p>
        </p:txBody>
      </p:sp>
      <p:sp>
        <p:nvSpPr>
          <p:cNvPr id="33" name="Text 27"/>
          <p:cNvSpPr/>
          <p:nvPr/>
        </p:nvSpPr>
        <p:spPr>
          <a:xfrm>
            <a:off x="9189720" y="3822192"/>
            <a:ext cx="19019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 in observed wire-transfer BEC attacks from Q1 to Q2 2026.</a:t>
            </a:r>
            <a:endParaRPr lang="en-US" sz="1040" dirty="0"/>
          </a:p>
        </p:txBody>
      </p:sp>
      <p:sp>
        <p:nvSpPr>
          <p:cNvPr id="34" name="Text 28"/>
          <p:cNvSpPr/>
          <p:nvPr/>
        </p:nvSpPr>
        <p:spPr>
          <a:xfrm>
            <a:off x="9189720" y="488289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6F8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APWG Q2 2026</a:t>
            </a:r>
            <a:endParaRPr lang="en-US" sz="840" dirty="0"/>
          </a:p>
        </p:txBody>
      </p:sp>
      <p:sp>
        <p:nvSpPr>
          <p:cNvPr id="35" name="Shape 29"/>
          <p:cNvSpPr/>
          <p:nvPr/>
        </p:nvSpPr>
        <p:spPr>
          <a:xfrm>
            <a:off x="566928" y="5650992"/>
            <a:ext cx="11045952" cy="438912"/>
          </a:xfrm>
          <a:prstGeom prst="roundRect">
            <a:avLst>
              <a:gd name="adj" fmla="val 16667"/>
            </a:avLst>
          </a:prstGeom>
          <a:solidFill>
            <a:srgbClr val="0B192A"/>
          </a:solidFill>
          <a:ln w="12700">
            <a:solidFill>
              <a:srgbClr val="1F4059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841248" y="5742432"/>
            <a:ext cx="1056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DDEA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statistics describe trends — they do not mean every suspicious message is phishing. Verify each situation on its own evidence.</a:t>
            </a:r>
            <a:endParaRPr lang="en-US" sz="1040" dirty="0"/>
          </a:p>
        </p:txBody>
      </p:sp>
      <p:sp>
        <p:nvSpPr>
          <p:cNvPr id="37" name="Text 31"/>
          <p:cNvSpPr/>
          <p:nvPr/>
        </p:nvSpPr>
        <p:spPr>
          <a:xfrm>
            <a:off x="566928" y="64556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6F879D"/>
                </a:solidFill>
                <a:uFill>
                  <a:solidFill>
                    <a:srgbClr val="6F879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Verizon — 2025 DBIR</a:t>
            </a:r>
            <a:pPr indent="0" marL="0">
              <a:buNone/>
            </a:pPr>
            <a:r>
              <a:rPr lang="en-US" sz="750" dirty="0">
                <a:solidFill>
                  <a:srgbClr val="6F8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750" u="sng" dirty="0">
                <a:solidFill>
                  <a:srgbClr val="6F879D"/>
                </a:solidFill>
                <a:uFill>
                  <a:solidFill>
                    <a:srgbClr val="6F879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APWG — Q2 2026 Phishing Activity Trends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2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THE MOTIVE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do attackers use phishing?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12096" y="283464"/>
            <a:ext cx="1700784" cy="292608"/>
          </a:xfrm>
          <a:prstGeom prst="roundRect">
            <a:avLst>
              <a:gd name="adj" fmla="val 18750"/>
            </a:avLst>
          </a:prstGeom>
          <a:solidFill>
            <a:srgbClr val="4F8FFF">
              <a:alpha val="15000"/>
            </a:srgbClr>
          </a:solidFill>
          <a:ln w="12700">
            <a:solidFill>
              <a:srgbClr val="4F8FFF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85248" y="3108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8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CODEALPHA • TASK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06070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message is only the bait. The real goal is what comes after the click, reply, call, scan, or login.</a:t>
            </a:r>
            <a:endParaRPr lang="en-US" sz="1420" dirty="0"/>
          </a:p>
        </p:txBody>
      </p:sp>
      <p:sp>
        <p:nvSpPr>
          <p:cNvPr id="7" name="Shape 5"/>
          <p:cNvSpPr/>
          <p:nvPr/>
        </p:nvSpPr>
        <p:spPr>
          <a:xfrm>
            <a:off x="4992624" y="2359152"/>
            <a:ext cx="2176272" cy="2176272"/>
          </a:xfrm>
          <a:prstGeom prst="ellipse">
            <a:avLst/>
          </a:prstGeom>
          <a:solidFill>
            <a:srgbClr val="0E2E43"/>
          </a:solidFill>
          <a:ln w="30480">
            <a:solidFill>
              <a:srgbClr val="26D9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50992" y="2697480"/>
            <a:ext cx="841248" cy="8412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57800" y="373075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58368" y="1700784"/>
            <a:ext cx="3017520" cy="987552"/>
          </a:xfrm>
          <a:prstGeom prst="roundRect">
            <a:avLst>
              <a:gd name="adj" fmla="val 7407"/>
            </a:avLst>
          </a:prstGeom>
          <a:solidFill>
            <a:srgbClr val="0B1B2D"/>
          </a:solidFill>
          <a:ln w="12700">
            <a:solidFill>
              <a:srgbClr val="18354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1929384"/>
            <a:ext cx="502920" cy="502920"/>
          </a:xfrm>
          <a:prstGeom prst="ellipse">
            <a:avLst/>
          </a:prstGeom>
          <a:solidFill>
            <a:srgbClr val="10253A"/>
          </a:solidFill>
          <a:ln w="12700">
            <a:solidFill>
              <a:srgbClr val="26D9FF">
                <a:alpha val="50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5373" y="2050085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44752" y="18379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Credentials</a:t>
            </a:r>
            <a:endParaRPr lang="en-US" sz="1360" dirty="0"/>
          </a:p>
        </p:txBody>
      </p:sp>
      <p:sp>
        <p:nvSpPr>
          <p:cNvPr id="14" name="Text 10"/>
          <p:cNvSpPr/>
          <p:nvPr/>
        </p:nvSpPr>
        <p:spPr>
          <a:xfrm>
            <a:off x="1444752" y="210312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Steal usernames, passwords or session access.</a:t>
            </a:r>
            <a:endParaRPr lang="en-US" sz="1020" dirty="0"/>
          </a:p>
        </p:txBody>
      </p:sp>
      <p:sp>
        <p:nvSpPr>
          <p:cNvPr id="15" name="Shape 11"/>
          <p:cNvSpPr/>
          <p:nvPr/>
        </p:nvSpPr>
        <p:spPr>
          <a:xfrm>
            <a:off x="2384846" y="2244737"/>
            <a:ext cx="2520235" cy="826224"/>
          </a:xfrm>
          <a:prstGeom prst="line">
            <a:avLst/>
          </a:prstGeom>
          <a:noFill/>
          <a:ln w="15240">
            <a:solidFill>
              <a:srgbClr val="26D9FF">
                <a:alpha val="2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58368" y="2999232"/>
            <a:ext cx="3017520" cy="987552"/>
          </a:xfrm>
          <a:prstGeom prst="roundRect">
            <a:avLst>
              <a:gd name="adj" fmla="val 7407"/>
            </a:avLst>
          </a:prstGeom>
          <a:solidFill>
            <a:srgbClr val="0B1B2D"/>
          </a:solidFill>
          <a:ln w="12700">
            <a:solidFill>
              <a:srgbClr val="18354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4672" y="3227832"/>
            <a:ext cx="502920" cy="502920"/>
          </a:xfrm>
          <a:prstGeom prst="ellipse">
            <a:avLst/>
          </a:prstGeom>
          <a:solidFill>
            <a:srgbClr val="10253A"/>
          </a:solidFill>
          <a:ln w="12700">
            <a:solidFill>
              <a:srgbClr val="57E6A8">
                <a:alpha val="5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5373" y="3348533"/>
            <a:ext cx="261518" cy="26151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44752" y="31363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fraud</a:t>
            </a:r>
            <a:endParaRPr lang="en-US" sz="1360" dirty="0"/>
          </a:p>
        </p:txBody>
      </p:sp>
      <p:sp>
        <p:nvSpPr>
          <p:cNvPr id="20" name="Text 15"/>
          <p:cNvSpPr/>
          <p:nvPr/>
        </p:nvSpPr>
        <p:spPr>
          <a:xfrm>
            <a:off x="1444752" y="340156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Trick people into paying or changing bank details.</a:t>
            </a:r>
            <a:endParaRPr lang="en-US" sz="1020" dirty="0"/>
          </a:p>
        </p:txBody>
      </p:sp>
      <p:sp>
        <p:nvSpPr>
          <p:cNvPr id="21" name="Shape 16"/>
          <p:cNvSpPr/>
          <p:nvPr/>
        </p:nvSpPr>
        <p:spPr>
          <a:xfrm>
            <a:off x="2395712" y="3491085"/>
            <a:ext cx="2450692" cy="-29377"/>
          </a:xfrm>
          <a:prstGeom prst="line">
            <a:avLst/>
          </a:prstGeom>
          <a:noFill/>
          <a:ln w="15240">
            <a:solidFill>
              <a:srgbClr val="57E6A8">
                <a:alpha val="25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8368" y="4297680"/>
            <a:ext cx="3017520" cy="987552"/>
          </a:xfrm>
          <a:prstGeom prst="roundRect">
            <a:avLst>
              <a:gd name="adj" fmla="val 7407"/>
            </a:avLst>
          </a:prstGeom>
          <a:solidFill>
            <a:srgbClr val="0B1B2D"/>
          </a:solidFill>
          <a:ln w="12700">
            <a:solidFill>
              <a:srgbClr val="18354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4672" y="4526280"/>
            <a:ext cx="502920" cy="502920"/>
          </a:xfrm>
          <a:prstGeom prst="ellipse">
            <a:avLst/>
          </a:prstGeom>
          <a:solidFill>
            <a:srgbClr val="10253A"/>
          </a:solidFill>
          <a:ln w="12700">
            <a:solidFill>
              <a:srgbClr val="4F8FFF">
                <a:alpha val="5000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5373" y="4646981"/>
            <a:ext cx="261518" cy="26151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44752" y="4434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data</a:t>
            </a:r>
            <a:endParaRPr lang="en-US" sz="1360" dirty="0"/>
          </a:p>
        </p:txBody>
      </p:sp>
      <p:sp>
        <p:nvSpPr>
          <p:cNvPr id="26" name="Text 20"/>
          <p:cNvSpPr/>
          <p:nvPr/>
        </p:nvSpPr>
        <p:spPr>
          <a:xfrm>
            <a:off x="1444752" y="470001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identity, contact or account information.</a:t>
            </a:r>
            <a:endParaRPr lang="en-US" sz="1020" dirty="0"/>
          </a:p>
        </p:txBody>
      </p:sp>
      <p:sp>
        <p:nvSpPr>
          <p:cNvPr id="27" name="Shape 21"/>
          <p:cNvSpPr/>
          <p:nvPr/>
        </p:nvSpPr>
        <p:spPr>
          <a:xfrm>
            <a:off x="2383331" y="4737991"/>
            <a:ext cx="2529930" cy="-889717"/>
          </a:xfrm>
          <a:prstGeom prst="line">
            <a:avLst/>
          </a:prstGeom>
          <a:noFill/>
          <a:ln w="15240">
            <a:solidFill>
              <a:srgbClr val="4F8FFF">
                <a:alpha val="25000"/>
              </a:srgbClr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485632" y="1700784"/>
            <a:ext cx="3017520" cy="987552"/>
          </a:xfrm>
          <a:prstGeom prst="roundRect">
            <a:avLst>
              <a:gd name="adj" fmla="val 7407"/>
            </a:avLst>
          </a:prstGeom>
          <a:solidFill>
            <a:srgbClr val="0B1B2D"/>
          </a:solidFill>
          <a:ln w="12700">
            <a:solidFill>
              <a:srgbClr val="18354D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631936" y="1929384"/>
            <a:ext cx="502920" cy="502920"/>
          </a:xfrm>
          <a:prstGeom prst="ellipse">
            <a:avLst/>
          </a:prstGeom>
          <a:solidFill>
            <a:srgbClr val="10253A"/>
          </a:solidFill>
          <a:ln w="12700">
            <a:solidFill>
              <a:srgbClr val="FFC857">
                <a:alpha val="50000"/>
              </a:srgbClr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52637" y="2050085"/>
            <a:ext cx="261518" cy="26151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272016" y="18379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Unauthorized access</a:t>
            </a:r>
            <a:endParaRPr lang="en-US" sz="1360" dirty="0"/>
          </a:p>
        </p:txBody>
      </p:sp>
      <p:sp>
        <p:nvSpPr>
          <p:cNvPr id="32" name="Text 25"/>
          <p:cNvSpPr/>
          <p:nvPr/>
        </p:nvSpPr>
        <p:spPr>
          <a:xfrm>
            <a:off x="9272016" y="210312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email, cloud, social or business systems.</a:t>
            </a:r>
            <a:endParaRPr lang="en-US" sz="1020" dirty="0"/>
          </a:p>
        </p:txBody>
      </p:sp>
      <p:sp>
        <p:nvSpPr>
          <p:cNvPr id="33" name="Shape 26"/>
          <p:cNvSpPr/>
          <p:nvPr/>
        </p:nvSpPr>
        <p:spPr>
          <a:xfrm>
            <a:off x="9776674" y="2244737"/>
            <a:ext cx="-2520235" cy="826224"/>
          </a:xfrm>
          <a:prstGeom prst="line">
            <a:avLst/>
          </a:prstGeom>
          <a:noFill/>
          <a:ln w="15240">
            <a:solidFill>
              <a:srgbClr val="FFC857">
                <a:alpha val="25000"/>
              </a:srgbClr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485632" y="2999232"/>
            <a:ext cx="3017520" cy="987552"/>
          </a:xfrm>
          <a:prstGeom prst="roundRect">
            <a:avLst>
              <a:gd name="adj" fmla="val 7407"/>
            </a:avLst>
          </a:prstGeom>
          <a:solidFill>
            <a:srgbClr val="0B1B2D"/>
          </a:solidFill>
          <a:ln w="12700">
            <a:solidFill>
              <a:srgbClr val="18354D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631936" y="3227832"/>
            <a:ext cx="502920" cy="502920"/>
          </a:xfrm>
          <a:prstGeom prst="ellipse">
            <a:avLst/>
          </a:prstGeom>
          <a:solidFill>
            <a:srgbClr val="10253A"/>
          </a:solidFill>
          <a:ln w="12700">
            <a:solidFill>
              <a:srgbClr val="FF667A">
                <a:alpha val="50000"/>
              </a:srgbClr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752637" y="3348533"/>
            <a:ext cx="261518" cy="26151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272016" y="31363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Malware delivery</a:t>
            </a:r>
            <a:endParaRPr lang="en-US" sz="1360" dirty="0"/>
          </a:p>
        </p:txBody>
      </p:sp>
      <p:sp>
        <p:nvSpPr>
          <p:cNvPr id="38" name="Text 30"/>
          <p:cNvSpPr/>
          <p:nvPr/>
        </p:nvSpPr>
        <p:spPr>
          <a:xfrm>
            <a:off x="9272016" y="340156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Convince a user to open a harmful file or installer.</a:t>
            </a:r>
            <a:endParaRPr lang="en-US" sz="1020" dirty="0"/>
          </a:p>
        </p:txBody>
      </p:sp>
      <p:sp>
        <p:nvSpPr>
          <p:cNvPr id="39" name="Shape 31"/>
          <p:cNvSpPr/>
          <p:nvPr/>
        </p:nvSpPr>
        <p:spPr>
          <a:xfrm>
            <a:off x="9765808" y="3491085"/>
            <a:ext cx="-2450692" cy="-29377"/>
          </a:xfrm>
          <a:prstGeom prst="line">
            <a:avLst/>
          </a:prstGeom>
          <a:noFill/>
          <a:ln w="15240">
            <a:solidFill>
              <a:srgbClr val="FF667A">
                <a:alpha val="25000"/>
              </a:srgbClr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8485632" y="4297680"/>
            <a:ext cx="3017520" cy="987552"/>
          </a:xfrm>
          <a:prstGeom prst="roundRect">
            <a:avLst>
              <a:gd name="adj" fmla="val 7407"/>
            </a:avLst>
          </a:prstGeom>
          <a:solidFill>
            <a:srgbClr val="0B1B2D"/>
          </a:solidFill>
          <a:ln w="12700">
            <a:solidFill>
              <a:srgbClr val="18354D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8631936" y="4526280"/>
            <a:ext cx="502920" cy="502920"/>
          </a:xfrm>
          <a:prstGeom prst="ellipse">
            <a:avLst/>
          </a:prstGeom>
          <a:solidFill>
            <a:srgbClr val="10253A"/>
          </a:solidFill>
          <a:ln w="12700">
            <a:solidFill>
              <a:srgbClr val="26D9FF">
                <a:alpha val="50000"/>
              </a:srgbClr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752637" y="4646981"/>
            <a:ext cx="261518" cy="261518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9272016" y="4434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secrets</a:t>
            </a:r>
            <a:endParaRPr lang="en-US" sz="1360" dirty="0"/>
          </a:p>
        </p:txBody>
      </p:sp>
      <p:sp>
        <p:nvSpPr>
          <p:cNvPr id="44" name="Text 35"/>
          <p:cNvSpPr/>
          <p:nvPr/>
        </p:nvSpPr>
        <p:spPr>
          <a:xfrm>
            <a:off x="9272016" y="470001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Steal invoices, documents, contacts or internal data.</a:t>
            </a:r>
            <a:endParaRPr lang="en-US" sz="1020" dirty="0"/>
          </a:p>
        </p:txBody>
      </p:sp>
      <p:sp>
        <p:nvSpPr>
          <p:cNvPr id="45" name="Shape 36"/>
          <p:cNvSpPr/>
          <p:nvPr/>
        </p:nvSpPr>
        <p:spPr>
          <a:xfrm>
            <a:off x="9778189" y="4737991"/>
            <a:ext cx="-2529930" cy="-889717"/>
          </a:xfrm>
          <a:prstGeom prst="line">
            <a:avLst/>
          </a:prstGeom>
          <a:noFill/>
          <a:ln w="15240">
            <a:solidFill>
              <a:srgbClr val="26D9FF">
                <a:alpha val="25000"/>
              </a:srgbClr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4425696" y="4965192"/>
            <a:ext cx="3310128" cy="941832"/>
          </a:xfrm>
          <a:prstGeom prst="roundRect">
            <a:avLst>
              <a:gd name="adj" fmla="val 7767"/>
            </a:avLst>
          </a:prstGeom>
          <a:solidFill>
            <a:srgbClr val="0B1B2D"/>
          </a:solidFill>
          <a:ln w="12700">
            <a:solidFill>
              <a:srgbClr val="18354D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4572000" y="5193792"/>
            <a:ext cx="502920" cy="502920"/>
          </a:xfrm>
          <a:prstGeom prst="ellipse">
            <a:avLst/>
          </a:prstGeom>
          <a:solidFill>
            <a:srgbClr val="10253A"/>
          </a:solidFill>
          <a:ln w="12700">
            <a:solidFill>
              <a:srgbClr val="57E6A8">
                <a:alpha val="50000"/>
              </a:srgbClr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92701" y="5314493"/>
            <a:ext cx="261518" cy="261518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5212080" y="510235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theft</a:t>
            </a:r>
            <a:endParaRPr lang="en-US" sz="1360" dirty="0"/>
          </a:p>
        </p:txBody>
      </p:sp>
      <p:sp>
        <p:nvSpPr>
          <p:cNvPr id="50" name="Text 40"/>
          <p:cNvSpPr/>
          <p:nvPr/>
        </p:nvSpPr>
        <p:spPr>
          <a:xfrm>
            <a:off x="5212080" y="5367528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stolen information to impersonate the victim.</a:t>
            </a:r>
            <a:endParaRPr lang="en-US" sz="1020" dirty="0"/>
          </a:p>
        </p:txBody>
      </p:sp>
      <p:sp>
        <p:nvSpPr>
          <p:cNvPr id="51" name="Text 41"/>
          <p:cNvSpPr/>
          <p:nvPr/>
        </p:nvSpPr>
        <p:spPr>
          <a:xfrm>
            <a:off x="566928" y="64556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6F879D"/>
                </a:solidFill>
                <a:uFill>
                  <a:solidFill>
                    <a:srgbClr val="6F879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FBI — Business Email Compromise</a:t>
            </a:r>
            <a:pPr indent="0" marL="0">
              <a:buNone/>
            </a:pPr>
            <a:r>
              <a:rPr lang="en-US" sz="750" dirty="0">
                <a:solidFill>
                  <a:srgbClr val="6F8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750" u="sng" dirty="0">
                <a:solidFill>
                  <a:srgbClr val="6F879D"/>
                </a:solidFill>
                <a:uFill>
                  <a:solidFill>
                    <a:srgbClr val="6F879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NIST — Phishing Guidance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2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THE HUMAN FACTOR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Phishing + social engineering + human psychology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12096" y="283464"/>
            <a:ext cx="1700784" cy="292608"/>
          </a:xfrm>
          <a:prstGeom prst="roundRect">
            <a:avLst>
              <a:gd name="adj" fmla="val 18750"/>
            </a:avLst>
          </a:prstGeom>
          <a:solidFill>
            <a:srgbClr val="4F8FFF">
              <a:alpha val="15000"/>
            </a:srgbClr>
          </a:solidFill>
          <a:ln w="12700">
            <a:solidFill>
              <a:srgbClr val="4F8FFF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85248" y="3108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8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CODEALPHA • TASK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0698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often targets human decision-making, not just technical weaknesses.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32688" y="1572768"/>
            <a:ext cx="2743200" cy="896112"/>
          </a:xfrm>
          <a:prstGeom prst="roundRect">
            <a:avLst>
              <a:gd name="adj" fmla="val 8163"/>
            </a:avLst>
          </a:prstGeom>
          <a:solidFill>
            <a:srgbClr val="0D1F32"/>
          </a:solidFill>
          <a:ln w="12700">
            <a:solidFill>
              <a:srgbClr val="1A3A5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764792"/>
            <a:ext cx="493776" cy="493776"/>
          </a:xfrm>
          <a:prstGeom prst="ellipse">
            <a:avLst/>
          </a:prstGeom>
          <a:solidFill>
            <a:srgbClr val="11273C"/>
          </a:solidFill>
          <a:ln w="12700">
            <a:solidFill>
              <a:srgbClr val="FFC857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786" y="1883298"/>
            <a:ext cx="256764" cy="2567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09928" y="171907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PSYCHOLOGICAL TRIGGER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1709928" y="19659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Urgency, fear, authority…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3749040" y="2020824"/>
            <a:ext cx="384048" cy="0"/>
          </a:xfrm>
          <a:prstGeom prst="line">
            <a:avLst/>
          </a:prstGeom>
          <a:noFill/>
          <a:ln w="19050">
            <a:solidFill>
              <a:srgbClr val="6F879D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279392" y="1572768"/>
            <a:ext cx="2743200" cy="896112"/>
          </a:xfrm>
          <a:prstGeom prst="roundRect">
            <a:avLst>
              <a:gd name="adj" fmla="val 8163"/>
            </a:avLst>
          </a:prstGeom>
          <a:solidFill>
            <a:srgbClr val="0D1F32"/>
          </a:solidFill>
          <a:ln w="12700">
            <a:solidFill>
              <a:srgbClr val="1A3A5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43984" y="1764792"/>
            <a:ext cx="493776" cy="493776"/>
          </a:xfrm>
          <a:prstGeom prst="ellipse">
            <a:avLst/>
          </a:prstGeom>
          <a:solidFill>
            <a:srgbClr val="11273C"/>
          </a:solidFill>
          <a:ln w="12700">
            <a:solidFill>
              <a:srgbClr val="FF667A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62490" y="1883298"/>
            <a:ext cx="256764" cy="2567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56632" y="171907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EMOTIONAL REACTION</a:t>
            </a:r>
            <a:endParaRPr lang="en-US" sz="1020" dirty="0"/>
          </a:p>
        </p:txBody>
      </p:sp>
      <p:sp>
        <p:nvSpPr>
          <p:cNvPr id="17" name="Text 13"/>
          <p:cNvSpPr/>
          <p:nvPr/>
        </p:nvSpPr>
        <p:spPr>
          <a:xfrm>
            <a:off x="5056632" y="19659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need to act now.”</a:t>
            </a:r>
            <a:endParaRPr lang="en-US" sz="1120" dirty="0"/>
          </a:p>
        </p:txBody>
      </p:sp>
      <p:sp>
        <p:nvSpPr>
          <p:cNvPr id="18" name="Shape 14"/>
          <p:cNvSpPr/>
          <p:nvPr/>
        </p:nvSpPr>
        <p:spPr>
          <a:xfrm>
            <a:off x="7095744" y="2020824"/>
            <a:ext cx="384048" cy="0"/>
          </a:xfrm>
          <a:prstGeom prst="line">
            <a:avLst/>
          </a:prstGeom>
          <a:noFill/>
          <a:ln w="19050">
            <a:solidFill>
              <a:srgbClr val="6F879D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7635240" y="1572768"/>
            <a:ext cx="2743200" cy="896112"/>
          </a:xfrm>
          <a:prstGeom prst="roundRect">
            <a:avLst>
              <a:gd name="adj" fmla="val 8163"/>
            </a:avLst>
          </a:prstGeom>
          <a:solidFill>
            <a:srgbClr val="0D1F32"/>
          </a:solidFill>
          <a:ln w="12700">
            <a:solidFill>
              <a:srgbClr val="1A3A5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799832" y="1764792"/>
            <a:ext cx="493776" cy="493776"/>
          </a:xfrm>
          <a:prstGeom prst="ellipse">
            <a:avLst/>
          </a:prstGeom>
          <a:solidFill>
            <a:srgbClr val="11273C"/>
          </a:solidFill>
          <a:ln w="12700">
            <a:solidFill>
              <a:srgbClr val="26D9FF">
                <a:alpha val="5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18338" y="1883298"/>
            <a:ext cx="256764" cy="2567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12480" y="171907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DECISION</a:t>
            </a:r>
            <a:endParaRPr lang="en-US" sz="1020" dirty="0"/>
          </a:p>
        </p:txBody>
      </p:sp>
      <p:sp>
        <p:nvSpPr>
          <p:cNvPr id="23" name="Text 18"/>
          <p:cNvSpPr/>
          <p:nvPr/>
        </p:nvSpPr>
        <p:spPr>
          <a:xfrm>
            <a:off x="8412480" y="19659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• reply • pay • share</a:t>
            </a:r>
            <a:endParaRPr lang="en-US" sz="1120" dirty="0"/>
          </a:p>
        </p:txBody>
      </p:sp>
      <p:sp>
        <p:nvSpPr>
          <p:cNvPr id="24" name="Shape 19"/>
          <p:cNvSpPr/>
          <p:nvPr/>
        </p:nvSpPr>
        <p:spPr>
          <a:xfrm>
            <a:off x="658368" y="2743200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0A1A2B"/>
          </a:solidFill>
          <a:ln w="12700">
            <a:solidFill>
              <a:srgbClr val="17354D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04672" y="2926080"/>
            <a:ext cx="512064" cy="512064"/>
          </a:xfrm>
          <a:prstGeom prst="ellipse">
            <a:avLst/>
          </a:prstGeom>
          <a:solidFill>
            <a:srgbClr val="10243A"/>
          </a:solidFill>
          <a:ln w="12700">
            <a:solidFill>
              <a:srgbClr val="FFC857">
                <a:alpha val="50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7567" y="3048975"/>
            <a:ext cx="266273" cy="26627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44752" y="28986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spc="70" kern="0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URGENCY</a:t>
            </a:r>
            <a:endParaRPr lang="en-US" sz="1120" dirty="0"/>
          </a:p>
        </p:txBody>
      </p:sp>
      <p:sp>
        <p:nvSpPr>
          <p:cNvPr id="28" name="Text 22"/>
          <p:cNvSpPr/>
          <p:nvPr/>
        </p:nvSpPr>
        <p:spPr>
          <a:xfrm>
            <a:off x="1444752" y="3154680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“Your account expires in 30 minutes.”</a:t>
            </a:r>
            <a:endParaRPr lang="en-US" sz="1110" dirty="0"/>
          </a:p>
        </p:txBody>
      </p:sp>
      <p:sp>
        <p:nvSpPr>
          <p:cNvPr id="29" name="Text 23"/>
          <p:cNvSpPr/>
          <p:nvPr/>
        </p:nvSpPr>
        <p:spPr>
          <a:xfrm>
            <a:off x="1444752" y="3493008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pressure reduces careful checking.</a:t>
            </a:r>
            <a:endParaRPr lang="en-US" sz="940" dirty="0"/>
          </a:p>
        </p:txBody>
      </p:sp>
      <p:sp>
        <p:nvSpPr>
          <p:cNvPr id="30" name="Shape 24"/>
          <p:cNvSpPr/>
          <p:nvPr/>
        </p:nvSpPr>
        <p:spPr>
          <a:xfrm>
            <a:off x="4471416" y="2743200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0A1A2B"/>
          </a:solidFill>
          <a:ln w="12700">
            <a:solidFill>
              <a:srgbClr val="17354D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617720" y="2926080"/>
            <a:ext cx="512064" cy="512064"/>
          </a:xfrm>
          <a:prstGeom prst="ellipse">
            <a:avLst/>
          </a:prstGeom>
          <a:solidFill>
            <a:srgbClr val="10243A"/>
          </a:solidFill>
          <a:ln w="12700">
            <a:solidFill>
              <a:srgbClr val="FF667A">
                <a:alpha val="50000"/>
              </a:srgbClr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40615" y="3048975"/>
            <a:ext cx="266273" cy="266273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257800" y="28986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spc="70" kern="0" dirty="0">
                <a:solidFill>
                  <a:srgbClr val="FF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FEAR</a:t>
            </a:r>
            <a:endParaRPr lang="en-US" sz="1120" dirty="0"/>
          </a:p>
        </p:txBody>
      </p:sp>
      <p:sp>
        <p:nvSpPr>
          <p:cNvPr id="34" name="Text 27"/>
          <p:cNvSpPr/>
          <p:nvPr/>
        </p:nvSpPr>
        <p:spPr>
          <a:xfrm>
            <a:off x="5257800" y="3154680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“Suspicious activity has been detected.”</a:t>
            </a:r>
            <a:endParaRPr lang="en-US" sz="1110" dirty="0"/>
          </a:p>
        </p:txBody>
      </p:sp>
      <p:sp>
        <p:nvSpPr>
          <p:cNvPr id="35" name="Text 28"/>
          <p:cNvSpPr/>
          <p:nvPr/>
        </p:nvSpPr>
        <p:spPr>
          <a:xfrm>
            <a:off x="5257800" y="3493008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Fear pushes the victim to react quickly.</a:t>
            </a:r>
            <a:endParaRPr lang="en-US" sz="940" dirty="0"/>
          </a:p>
        </p:txBody>
      </p:sp>
      <p:sp>
        <p:nvSpPr>
          <p:cNvPr id="36" name="Shape 29"/>
          <p:cNvSpPr/>
          <p:nvPr/>
        </p:nvSpPr>
        <p:spPr>
          <a:xfrm>
            <a:off x="8284464" y="2743200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0A1A2B"/>
          </a:solidFill>
          <a:ln w="12700">
            <a:solidFill>
              <a:srgbClr val="17354D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430768" y="2926080"/>
            <a:ext cx="512064" cy="512064"/>
          </a:xfrm>
          <a:prstGeom prst="ellipse">
            <a:avLst/>
          </a:prstGeom>
          <a:solidFill>
            <a:srgbClr val="10243A"/>
          </a:solidFill>
          <a:ln w="12700">
            <a:solidFill>
              <a:srgbClr val="4F8FFF">
                <a:alpha val="50000"/>
              </a:srgbClr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53663" y="3048975"/>
            <a:ext cx="266273" cy="266273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070848" y="28986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spc="70" kern="0" dirty="0">
                <a:solidFill>
                  <a:srgbClr val="4F8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AUTHORITY</a:t>
            </a:r>
            <a:endParaRPr lang="en-US" sz="1120" dirty="0"/>
          </a:p>
        </p:txBody>
      </p:sp>
      <p:sp>
        <p:nvSpPr>
          <p:cNvPr id="40" name="Text 32"/>
          <p:cNvSpPr/>
          <p:nvPr/>
        </p:nvSpPr>
        <p:spPr>
          <a:xfrm>
            <a:off x="9070848" y="3154680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“This is your manager. Do this now.”</a:t>
            </a:r>
            <a:endParaRPr lang="en-US" sz="1110" dirty="0"/>
          </a:p>
        </p:txBody>
      </p:sp>
      <p:sp>
        <p:nvSpPr>
          <p:cNvPr id="41" name="Text 33"/>
          <p:cNvSpPr/>
          <p:nvPr/>
        </p:nvSpPr>
        <p:spPr>
          <a:xfrm>
            <a:off x="9070848" y="3493008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tend to obey trusted authority.</a:t>
            </a:r>
            <a:endParaRPr lang="en-US" sz="940" dirty="0"/>
          </a:p>
        </p:txBody>
      </p:sp>
      <p:sp>
        <p:nvSpPr>
          <p:cNvPr id="42" name="Shape 34"/>
          <p:cNvSpPr/>
          <p:nvPr/>
        </p:nvSpPr>
        <p:spPr>
          <a:xfrm>
            <a:off x="658368" y="4114800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0A1A2B"/>
          </a:solidFill>
          <a:ln w="12700">
            <a:solidFill>
              <a:srgbClr val="17354D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804672" y="4297680"/>
            <a:ext cx="512064" cy="512064"/>
          </a:xfrm>
          <a:prstGeom prst="ellipse">
            <a:avLst/>
          </a:prstGeom>
          <a:solidFill>
            <a:srgbClr val="10243A"/>
          </a:solidFill>
          <a:ln w="12700">
            <a:solidFill>
              <a:srgbClr val="26D9FF">
                <a:alpha val="50000"/>
              </a:srgbClr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7567" y="4420575"/>
            <a:ext cx="266273" cy="266273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1444752" y="42702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spc="70" kern="0" dirty="0">
                <a:solidFill>
                  <a:srgbClr val="2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CURIOSITY</a:t>
            </a:r>
            <a:endParaRPr lang="en-US" sz="1120" dirty="0"/>
          </a:p>
        </p:txBody>
      </p:sp>
      <p:sp>
        <p:nvSpPr>
          <p:cNvPr id="46" name="Text 37"/>
          <p:cNvSpPr/>
          <p:nvPr/>
        </p:nvSpPr>
        <p:spPr>
          <a:xfrm>
            <a:off x="1444752" y="4526280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“See who viewed your profile.”</a:t>
            </a:r>
            <a:endParaRPr lang="en-US" sz="1110" dirty="0"/>
          </a:p>
        </p:txBody>
      </p:sp>
      <p:sp>
        <p:nvSpPr>
          <p:cNvPr id="47" name="Text 38"/>
          <p:cNvSpPr/>
          <p:nvPr/>
        </p:nvSpPr>
        <p:spPr>
          <a:xfrm>
            <a:off x="1444752" y="4864608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Curiosity makes the message hard to ignore.</a:t>
            </a:r>
            <a:endParaRPr lang="en-US" sz="940" dirty="0"/>
          </a:p>
        </p:txBody>
      </p:sp>
      <p:sp>
        <p:nvSpPr>
          <p:cNvPr id="48" name="Shape 39"/>
          <p:cNvSpPr/>
          <p:nvPr/>
        </p:nvSpPr>
        <p:spPr>
          <a:xfrm>
            <a:off x="4471416" y="4114800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0A1A2B"/>
          </a:solidFill>
          <a:ln w="12700">
            <a:solidFill>
              <a:srgbClr val="17354D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4617720" y="4297680"/>
            <a:ext cx="512064" cy="512064"/>
          </a:xfrm>
          <a:prstGeom prst="ellipse">
            <a:avLst/>
          </a:prstGeom>
          <a:solidFill>
            <a:srgbClr val="10243A"/>
          </a:solidFill>
          <a:ln w="12700">
            <a:solidFill>
              <a:srgbClr val="57E6A8">
                <a:alpha val="50000"/>
              </a:srgbClr>
            </a:solidFill>
            <a:prstDash val="solid"/>
          </a:ln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40615" y="4420575"/>
            <a:ext cx="266273" cy="266273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5257800" y="42702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spc="70" kern="0" dirty="0">
                <a:solidFill>
                  <a:srgbClr val="57E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/ GREED</a:t>
            </a:r>
            <a:endParaRPr lang="en-US" sz="1120" dirty="0"/>
          </a:p>
        </p:txBody>
      </p:sp>
      <p:sp>
        <p:nvSpPr>
          <p:cNvPr id="52" name="Text 42"/>
          <p:cNvSpPr/>
          <p:nvPr/>
        </p:nvSpPr>
        <p:spPr>
          <a:xfrm>
            <a:off x="5257800" y="4526280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“Congratulations! You won a prize.”</a:t>
            </a:r>
            <a:endParaRPr lang="en-US" sz="1110" dirty="0"/>
          </a:p>
        </p:txBody>
      </p:sp>
      <p:sp>
        <p:nvSpPr>
          <p:cNvPr id="53" name="Text 43"/>
          <p:cNvSpPr/>
          <p:nvPr/>
        </p:nvSpPr>
        <p:spPr>
          <a:xfrm>
            <a:off x="5257800" y="4864608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reward can override normal caution.</a:t>
            </a:r>
            <a:endParaRPr lang="en-US" sz="940" dirty="0"/>
          </a:p>
        </p:txBody>
      </p:sp>
      <p:sp>
        <p:nvSpPr>
          <p:cNvPr id="54" name="Shape 44"/>
          <p:cNvSpPr/>
          <p:nvPr/>
        </p:nvSpPr>
        <p:spPr>
          <a:xfrm>
            <a:off x="8284464" y="4114800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0A1A2B"/>
          </a:solidFill>
          <a:ln w="12700">
            <a:solidFill>
              <a:srgbClr val="17354D"/>
            </a:solidFill>
            <a:prstDash val="solid"/>
          </a:ln>
        </p:spPr>
      </p:sp>
      <p:sp>
        <p:nvSpPr>
          <p:cNvPr id="55" name="Shape 45"/>
          <p:cNvSpPr/>
          <p:nvPr/>
        </p:nvSpPr>
        <p:spPr>
          <a:xfrm>
            <a:off x="8430768" y="4297680"/>
            <a:ext cx="512064" cy="512064"/>
          </a:xfrm>
          <a:prstGeom prst="ellipse">
            <a:avLst/>
          </a:prstGeom>
          <a:solidFill>
            <a:srgbClr val="10243A"/>
          </a:solidFill>
          <a:ln w="12700">
            <a:solidFill>
              <a:srgbClr val="8DD9FF">
                <a:alpha val="50000"/>
              </a:srgbClr>
            </a:solidFill>
            <a:prstDash val="solid"/>
          </a:ln>
        </p:spPr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53663" y="4420575"/>
            <a:ext cx="266273" cy="266273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9070848" y="42702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spc="70" kern="0" dirty="0">
                <a:solidFill>
                  <a:srgbClr val="8D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</a:t>
            </a:r>
            <a:endParaRPr lang="en-US" sz="1120" dirty="0"/>
          </a:p>
        </p:txBody>
      </p:sp>
      <p:sp>
        <p:nvSpPr>
          <p:cNvPr id="58" name="Text 47"/>
          <p:cNvSpPr/>
          <p:nvPr/>
        </p:nvSpPr>
        <p:spPr>
          <a:xfrm>
            <a:off x="9070848" y="4526280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“Message from your bank / university.”</a:t>
            </a:r>
            <a:endParaRPr lang="en-US" sz="1110" dirty="0"/>
          </a:p>
        </p:txBody>
      </p:sp>
      <p:sp>
        <p:nvSpPr>
          <p:cNvPr id="59" name="Text 48"/>
          <p:cNvSpPr/>
          <p:nvPr/>
        </p:nvSpPr>
        <p:spPr>
          <a:xfrm>
            <a:off x="9070848" y="4864608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Familiar names lower suspicion.</a:t>
            </a:r>
            <a:endParaRPr lang="en-US" sz="940" dirty="0"/>
          </a:p>
        </p:txBody>
      </p:sp>
      <p:sp>
        <p:nvSpPr>
          <p:cNvPr id="60" name="Shape 49"/>
          <p:cNvSpPr/>
          <p:nvPr/>
        </p:nvSpPr>
        <p:spPr>
          <a:xfrm>
            <a:off x="658368" y="546811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02335"/>
          </a:solidFill>
          <a:ln w="12700">
            <a:solidFill>
              <a:srgbClr val="1D526C"/>
            </a:solidFill>
            <a:prstDash val="solid"/>
          </a:ln>
        </p:spPr>
      </p:sp>
      <p:sp>
        <p:nvSpPr>
          <p:cNvPr id="61" name="Text 50"/>
          <p:cNvSpPr/>
          <p:nvPr/>
        </p:nvSpPr>
        <p:spPr>
          <a:xfrm>
            <a:off x="877824" y="5586984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DF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idea: the attacker tries to create a feeling first — because feelings can make us skip verification.</a:t>
            </a:r>
            <a:endParaRPr lang="en-US" sz="1230" dirty="0"/>
          </a:p>
        </p:txBody>
      </p:sp>
      <p:sp>
        <p:nvSpPr>
          <p:cNvPr id="62" name="Text 51"/>
          <p:cNvSpPr/>
          <p:nvPr/>
        </p:nvSpPr>
        <p:spPr>
          <a:xfrm>
            <a:off x="566928" y="64556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6F879D"/>
                </a:solidFill>
                <a:uFill>
                  <a:solidFill>
                    <a:srgbClr val="6F879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NIST — Social Engineering / Phishing</a:t>
            </a:r>
            <a:pPr indent="0" marL="0">
              <a:buNone/>
            </a:pPr>
            <a:r>
              <a:rPr lang="en-US" sz="750" dirty="0">
                <a:solidFill>
                  <a:srgbClr val="6F8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750" u="sng" dirty="0">
                <a:solidFill>
                  <a:srgbClr val="6F879D"/>
                </a:solidFill>
                <a:uFill>
                  <a:solidFill>
                    <a:srgbClr val="6F879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2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Security Blog — Why phishing works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2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THE CHANNELS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Types of phishing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12096" y="283464"/>
            <a:ext cx="1700784" cy="292608"/>
          </a:xfrm>
          <a:prstGeom prst="roundRect">
            <a:avLst>
              <a:gd name="adj" fmla="val 18750"/>
            </a:avLst>
          </a:prstGeom>
          <a:solidFill>
            <a:srgbClr val="4F8FFF">
              <a:alpha val="15000"/>
            </a:srgbClr>
          </a:solidFill>
          <a:ln w="12700">
            <a:solidFill>
              <a:srgbClr val="4F8FFF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85248" y="3108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8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CODEALPHA • TASK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06070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delivery channel changes — the deception stays the same.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1600200"/>
            <a:ext cx="2679192" cy="1709928"/>
          </a:xfrm>
          <a:prstGeom prst="roundRect">
            <a:avLst>
              <a:gd name="adj" fmla="val 4278"/>
            </a:avLst>
          </a:prstGeom>
          <a:solidFill>
            <a:srgbClr val="0A192A"/>
          </a:solidFill>
          <a:ln w="12700">
            <a:solidFill>
              <a:srgbClr val="1737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376" y="1764792"/>
            <a:ext cx="493776" cy="493776"/>
          </a:xfrm>
          <a:prstGeom prst="ellipse">
            <a:avLst/>
          </a:prstGeom>
          <a:solidFill>
            <a:srgbClr val="10243A"/>
          </a:solidFill>
          <a:ln w="12700">
            <a:solidFill>
              <a:srgbClr val="26D9FF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882" y="1883298"/>
            <a:ext cx="256764" cy="2567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35024" y="177393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Phishing</a:t>
            </a:r>
            <a:endParaRPr lang="en-US" sz="1220" dirty="0"/>
          </a:p>
        </p:txBody>
      </p:sp>
      <p:sp>
        <p:nvSpPr>
          <p:cNvPr id="11" name="Text 8"/>
          <p:cNvSpPr/>
          <p:nvPr/>
        </p:nvSpPr>
        <p:spPr>
          <a:xfrm>
            <a:off x="722376" y="2313432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Mass fraudulent emails sent to many people.</a:t>
            </a:r>
            <a:endParaRPr lang="en-US" sz="990" dirty="0"/>
          </a:p>
        </p:txBody>
      </p:sp>
      <p:sp>
        <p:nvSpPr>
          <p:cNvPr id="12" name="Text 9"/>
          <p:cNvSpPr/>
          <p:nvPr/>
        </p:nvSpPr>
        <p:spPr>
          <a:xfrm>
            <a:off x="722376" y="2770632"/>
            <a:ext cx="236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“Reset your mailbox now.”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3392424" y="1600200"/>
            <a:ext cx="2679192" cy="1709928"/>
          </a:xfrm>
          <a:prstGeom prst="roundRect">
            <a:avLst>
              <a:gd name="adj" fmla="val 4278"/>
            </a:avLst>
          </a:prstGeom>
          <a:solidFill>
            <a:srgbClr val="0A192A"/>
          </a:solidFill>
          <a:ln w="12700">
            <a:solidFill>
              <a:srgbClr val="17374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47872" y="1764792"/>
            <a:ext cx="493776" cy="493776"/>
          </a:xfrm>
          <a:prstGeom prst="ellipse">
            <a:avLst/>
          </a:prstGeom>
          <a:solidFill>
            <a:srgbClr val="10243A"/>
          </a:solidFill>
          <a:ln w="12700">
            <a:solidFill>
              <a:srgbClr val="4F8FFF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6378" y="1883298"/>
            <a:ext cx="256764" cy="2567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60520" y="177393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Spear Phishing</a:t>
            </a:r>
            <a:endParaRPr lang="en-US" sz="1220" dirty="0"/>
          </a:p>
        </p:txBody>
      </p:sp>
      <p:sp>
        <p:nvSpPr>
          <p:cNvPr id="17" name="Text 13"/>
          <p:cNvSpPr/>
          <p:nvPr/>
        </p:nvSpPr>
        <p:spPr>
          <a:xfrm>
            <a:off x="3547872" y="2313432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targeted message built for one person or team.</a:t>
            </a:r>
            <a:endParaRPr lang="en-US" sz="990" dirty="0"/>
          </a:p>
        </p:txBody>
      </p:sp>
      <p:sp>
        <p:nvSpPr>
          <p:cNvPr id="18" name="Text 14"/>
          <p:cNvSpPr/>
          <p:nvPr/>
        </p:nvSpPr>
        <p:spPr>
          <a:xfrm>
            <a:off x="3547872" y="2770632"/>
            <a:ext cx="236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4F8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fake HR request using your name.</a:t>
            </a:r>
            <a:endParaRPr lang="en-US" sz="920" dirty="0"/>
          </a:p>
        </p:txBody>
      </p:sp>
      <p:sp>
        <p:nvSpPr>
          <p:cNvPr id="19" name="Shape 15"/>
          <p:cNvSpPr/>
          <p:nvPr/>
        </p:nvSpPr>
        <p:spPr>
          <a:xfrm>
            <a:off x="6217920" y="1600200"/>
            <a:ext cx="2679192" cy="1709928"/>
          </a:xfrm>
          <a:prstGeom prst="roundRect">
            <a:avLst>
              <a:gd name="adj" fmla="val 4278"/>
            </a:avLst>
          </a:prstGeom>
          <a:solidFill>
            <a:srgbClr val="0A192A"/>
          </a:solidFill>
          <a:ln w="12700">
            <a:solidFill>
              <a:srgbClr val="17374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373368" y="1764792"/>
            <a:ext cx="493776" cy="493776"/>
          </a:xfrm>
          <a:prstGeom prst="ellipse">
            <a:avLst/>
          </a:prstGeom>
          <a:solidFill>
            <a:srgbClr val="10243A"/>
          </a:solidFill>
          <a:ln w="12700">
            <a:solidFill>
              <a:srgbClr val="FFC857">
                <a:alpha val="5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1874" y="1883298"/>
            <a:ext cx="256764" cy="2567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86016" y="177393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Whaling</a:t>
            </a:r>
            <a:endParaRPr lang="en-US" sz="1220" dirty="0"/>
          </a:p>
        </p:txBody>
      </p:sp>
      <p:sp>
        <p:nvSpPr>
          <p:cNvPr id="23" name="Text 18"/>
          <p:cNvSpPr/>
          <p:nvPr/>
        </p:nvSpPr>
        <p:spPr>
          <a:xfrm>
            <a:off x="6373368" y="2313432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Targeted phishing aimed at senior leaders.</a:t>
            </a:r>
            <a:endParaRPr lang="en-US" sz="990" dirty="0"/>
          </a:p>
        </p:txBody>
      </p:sp>
      <p:sp>
        <p:nvSpPr>
          <p:cNvPr id="24" name="Text 19"/>
          <p:cNvSpPr/>
          <p:nvPr/>
        </p:nvSpPr>
        <p:spPr>
          <a:xfrm>
            <a:off x="6373368" y="2770632"/>
            <a:ext cx="236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fake legal notice sent to a CEO.</a:t>
            </a:r>
            <a:endParaRPr lang="en-US" sz="920" dirty="0"/>
          </a:p>
        </p:txBody>
      </p:sp>
      <p:sp>
        <p:nvSpPr>
          <p:cNvPr id="25" name="Shape 20"/>
          <p:cNvSpPr/>
          <p:nvPr/>
        </p:nvSpPr>
        <p:spPr>
          <a:xfrm>
            <a:off x="9043416" y="1600200"/>
            <a:ext cx="2679192" cy="1709928"/>
          </a:xfrm>
          <a:prstGeom prst="roundRect">
            <a:avLst>
              <a:gd name="adj" fmla="val 4278"/>
            </a:avLst>
          </a:prstGeom>
          <a:solidFill>
            <a:srgbClr val="0A192A"/>
          </a:solidFill>
          <a:ln w="12700">
            <a:solidFill>
              <a:srgbClr val="17374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198864" y="1764792"/>
            <a:ext cx="493776" cy="493776"/>
          </a:xfrm>
          <a:prstGeom prst="ellipse">
            <a:avLst/>
          </a:prstGeom>
          <a:solidFill>
            <a:srgbClr val="10243A"/>
          </a:solidFill>
          <a:ln w="12700">
            <a:solidFill>
              <a:srgbClr val="57E6A8">
                <a:alpha val="50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17370" y="1883298"/>
            <a:ext cx="256764" cy="25676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811512" y="177393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Smishing</a:t>
            </a:r>
            <a:endParaRPr lang="en-US" sz="1220" dirty="0"/>
          </a:p>
        </p:txBody>
      </p:sp>
      <p:sp>
        <p:nvSpPr>
          <p:cNvPr id="29" name="Text 23"/>
          <p:cNvSpPr/>
          <p:nvPr/>
        </p:nvSpPr>
        <p:spPr>
          <a:xfrm>
            <a:off x="9198864" y="2313432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delivered through SMS or text messages.</a:t>
            </a:r>
            <a:endParaRPr lang="en-US" sz="990" dirty="0"/>
          </a:p>
        </p:txBody>
      </p:sp>
      <p:sp>
        <p:nvSpPr>
          <p:cNvPr id="30" name="Text 24"/>
          <p:cNvSpPr/>
          <p:nvPr/>
        </p:nvSpPr>
        <p:spPr>
          <a:xfrm>
            <a:off x="9198864" y="2770632"/>
            <a:ext cx="236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57E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“Package issue — confirm address.”</a:t>
            </a:r>
            <a:endParaRPr lang="en-US" sz="920" dirty="0"/>
          </a:p>
        </p:txBody>
      </p:sp>
      <p:sp>
        <p:nvSpPr>
          <p:cNvPr id="31" name="Shape 25"/>
          <p:cNvSpPr/>
          <p:nvPr/>
        </p:nvSpPr>
        <p:spPr>
          <a:xfrm>
            <a:off x="1536192" y="3493008"/>
            <a:ext cx="2852928" cy="1709928"/>
          </a:xfrm>
          <a:prstGeom prst="roundRect">
            <a:avLst>
              <a:gd name="adj" fmla="val 4278"/>
            </a:avLst>
          </a:prstGeom>
          <a:solidFill>
            <a:srgbClr val="0A192A"/>
          </a:solidFill>
          <a:ln w="12700">
            <a:solidFill>
              <a:srgbClr val="17374F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1691640" y="3657600"/>
            <a:ext cx="493776" cy="493776"/>
          </a:xfrm>
          <a:prstGeom prst="ellipse">
            <a:avLst/>
          </a:prstGeom>
          <a:solidFill>
            <a:srgbClr val="10243A"/>
          </a:solidFill>
          <a:ln w="12700">
            <a:solidFill>
              <a:srgbClr val="FF667A">
                <a:alpha val="50000"/>
              </a:srgbClr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10146" y="3776106"/>
            <a:ext cx="256764" cy="25676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2304288" y="366674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Vishing</a:t>
            </a:r>
            <a:endParaRPr lang="en-US" sz="1220" dirty="0"/>
          </a:p>
        </p:txBody>
      </p:sp>
      <p:sp>
        <p:nvSpPr>
          <p:cNvPr id="35" name="Text 28"/>
          <p:cNvSpPr/>
          <p:nvPr/>
        </p:nvSpPr>
        <p:spPr>
          <a:xfrm>
            <a:off x="1691640" y="420624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phishing through calls or voice messages.</a:t>
            </a:r>
            <a:endParaRPr lang="en-US" sz="990" dirty="0"/>
          </a:p>
        </p:txBody>
      </p:sp>
      <p:sp>
        <p:nvSpPr>
          <p:cNvPr id="36" name="Text 29"/>
          <p:cNvSpPr/>
          <p:nvPr/>
        </p:nvSpPr>
        <p:spPr>
          <a:xfrm>
            <a:off x="1691640" y="466344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fake bank security call.</a:t>
            </a:r>
            <a:endParaRPr lang="en-US" sz="920" dirty="0"/>
          </a:p>
        </p:txBody>
      </p:sp>
      <p:sp>
        <p:nvSpPr>
          <p:cNvPr id="37" name="Shape 30"/>
          <p:cNvSpPr/>
          <p:nvPr/>
        </p:nvSpPr>
        <p:spPr>
          <a:xfrm>
            <a:off x="4471416" y="3493008"/>
            <a:ext cx="2852928" cy="1709928"/>
          </a:xfrm>
          <a:prstGeom prst="roundRect">
            <a:avLst>
              <a:gd name="adj" fmla="val 4278"/>
            </a:avLst>
          </a:prstGeom>
          <a:solidFill>
            <a:srgbClr val="0A192A"/>
          </a:solidFill>
          <a:ln w="12700">
            <a:solidFill>
              <a:srgbClr val="17374F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4626864" y="3657600"/>
            <a:ext cx="493776" cy="493776"/>
          </a:xfrm>
          <a:prstGeom prst="ellipse">
            <a:avLst/>
          </a:prstGeom>
          <a:solidFill>
            <a:srgbClr val="10243A"/>
          </a:solidFill>
          <a:ln w="12700">
            <a:solidFill>
              <a:srgbClr val="B5A8FF">
                <a:alpha val="50000"/>
              </a:srgbClr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45370" y="3776106"/>
            <a:ext cx="256764" cy="25676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239512" y="366674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Clone Phishing</a:t>
            </a:r>
            <a:endParaRPr lang="en-US" sz="1220" dirty="0"/>
          </a:p>
        </p:txBody>
      </p:sp>
      <p:sp>
        <p:nvSpPr>
          <p:cNvPr id="41" name="Text 33"/>
          <p:cNvSpPr/>
          <p:nvPr/>
        </p:nvSpPr>
        <p:spPr>
          <a:xfrm>
            <a:off x="4626864" y="420624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copied legitimate-looking message is altered.</a:t>
            </a:r>
            <a:endParaRPr lang="en-US" sz="990" dirty="0"/>
          </a:p>
        </p:txBody>
      </p:sp>
      <p:sp>
        <p:nvSpPr>
          <p:cNvPr id="42" name="Text 34"/>
          <p:cNvSpPr/>
          <p:nvPr/>
        </p:nvSpPr>
        <p:spPr>
          <a:xfrm>
            <a:off x="4626864" y="466344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B5A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same invoice email, changed attachment.</a:t>
            </a:r>
            <a:endParaRPr lang="en-US" sz="920" dirty="0"/>
          </a:p>
        </p:txBody>
      </p:sp>
      <p:sp>
        <p:nvSpPr>
          <p:cNvPr id="43" name="Shape 35"/>
          <p:cNvSpPr/>
          <p:nvPr/>
        </p:nvSpPr>
        <p:spPr>
          <a:xfrm>
            <a:off x="7406640" y="3493008"/>
            <a:ext cx="2852928" cy="1709928"/>
          </a:xfrm>
          <a:prstGeom prst="roundRect">
            <a:avLst>
              <a:gd name="adj" fmla="val 4278"/>
            </a:avLst>
          </a:prstGeom>
          <a:solidFill>
            <a:srgbClr val="0A192A"/>
          </a:solidFill>
          <a:ln w="12700">
            <a:solidFill>
              <a:srgbClr val="17374F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7562088" y="3657600"/>
            <a:ext cx="493776" cy="493776"/>
          </a:xfrm>
          <a:prstGeom prst="ellipse">
            <a:avLst/>
          </a:prstGeom>
          <a:solidFill>
            <a:srgbClr val="10243A"/>
          </a:solidFill>
          <a:ln w="12700">
            <a:solidFill>
              <a:srgbClr val="8EDCFF">
                <a:alpha val="50000"/>
              </a:srgbClr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80594" y="3776106"/>
            <a:ext cx="256764" cy="256764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8174736" y="366674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Quishing / QR Phishing</a:t>
            </a:r>
            <a:endParaRPr lang="en-US" sz="1220" dirty="0"/>
          </a:p>
        </p:txBody>
      </p:sp>
      <p:sp>
        <p:nvSpPr>
          <p:cNvPr id="47" name="Text 38"/>
          <p:cNvSpPr/>
          <p:nvPr/>
        </p:nvSpPr>
        <p:spPr>
          <a:xfrm>
            <a:off x="7562088" y="420624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QR code sends the victim to a fraudulent page.</a:t>
            </a:r>
            <a:endParaRPr lang="en-US" sz="990" dirty="0"/>
          </a:p>
        </p:txBody>
      </p:sp>
      <p:sp>
        <p:nvSpPr>
          <p:cNvPr id="48" name="Text 39"/>
          <p:cNvSpPr/>
          <p:nvPr/>
        </p:nvSpPr>
        <p:spPr>
          <a:xfrm>
            <a:off x="7562088" y="466344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8E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“Scan for your free voucher.”</a:t>
            </a:r>
            <a:endParaRPr lang="en-US" sz="920" dirty="0"/>
          </a:p>
        </p:txBody>
      </p:sp>
      <p:sp>
        <p:nvSpPr>
          <p:cNvPr id="49" name="Shape 40"/>
          <p:cNvSpPr/>
          <p:nvPr/>
        </p:nvSpPr>
        <p:spPr>
          <a:xfrm>
            <a:off x="566928" y="5468112"/>
            <a:ext cx="11045952" cy="512064"/>
          </a:xfrm>
          <a:prstGeom prst="roundRect">
            <a:avLst>
              <a:gd name="adj" fmla="val 14286"/>
            </a:avLst>
          </a:prstGeom>
          <a:solidFill>
            <a:srgbClr val="10243A"/>
          </a:solidFill>
          <a:ln w="12700">
            <a:solidFill>
              <a:srgbClr val="1C4E6C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1143000" y="559612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57E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SMS = SMISHING</a:t>
            </a:r>
            <a:endParaRPr lang="en-US" sz="1240" dirty="0"/>
          </a:p>
        </p:txBody>
      </p:sp>
      <p:sp>
        <p:nvSpPr>
          <p:cNvPr id="51" name="Text 42"/>
          <p:cNvSpPr/>
          <p:nvPr/>
        </p:nvSpPr>
        <p:spPr>
          <a:xfrm>
            <a:off x="3913632" y="559612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= VISHING</a:t>
            </a:r>
            <a:endParaRPr lang="en-US" sz="1240" dirty="0"/>
          </a:p>
        </p:txBody>
      </p:sp>
      <p:sp>
        <p:nvSpPr>
          <p:cNvPr id="52" name="Text 43"/>
          <p:cNvSpPr/>
          <p:nvPr/>
        </p:nvSpPr>
        <p:spPr>
          <a:xfrm>
            <a:off x="6876288" y="559612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8E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CODE = QUISHING</a:t>
            </a:r>
            <a:endParaRPr lang="en-US" sz="1240" dirty="0"/>
          </a:p>
        </p:txBody>
      </p:sp>
      <p:sp>
        <p:nvSpPr>
          <p:cNvPr id="53" name="Text 44"/>
          <p:cNvSpPr/>
          <p:nvPr/>
        </p:nvSpPr>
        <p:spPr>
          <a:xfrm>
            <a:off x="9272016" y="558698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8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Targeting a specific person = SPEAR PHISHING</a:t>
            </a:r>
            <a:endParaRPr lang="en-US" sz="1050" dirty="0"/>
          </a:p>
        </p:txBody>
      </p:sp>
      <p:sp>
        <p:nvSpPr>
          <p:cNvPr id="54" name="Text 45"/>
          <p:cNvSpPr/>
          <p:nvPr/>
        </p:nvSpPr>
        <p:spPr>
          <a:xfrm>
            <a:off x="566928" y="64556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6F879D"/>
                </a:solidFill>
                <a:uFill>
                  <a:solidFill>
                    <a:srgbClr val="6F879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FBI — Spoofing &amp; Phishing</a:t>
            </a:r>
            <a:pPr indent="0" marL="0">
              <a:buNone/>
            </a:pPr>
            <a:r>
              <a:rPr lang="en-US" sz="750" dirty="0">
                <a:solidFill>
                  <a:srgbClr val="6F8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750" u="sng" dirty="0">
                <a:solidFill>
                  <a:srgbClr val="6F879D"/>
                </a:solidFill>
                <a:uFill>
                  <a:solidFill>
                    <a:srgbClr val="6F879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NIST — Phishing Guidance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2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THE PATTERN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Real-world phishing scenarios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12096" y="283464"/>
            <a:ext cx="1700784" cy="292608"/>
          </a:xfrm>
          <a:prstGeom prst="roundRect">
            <a:avLst>
              <a:gd name="adj" fmla="val 18750"/>
            </a:avLst>
          </a:prstGeom>
          <a:solidFill>
            <a:srgbClr val="4F8FFF">
              <a:alpha val="15000"/>
            </a:srgbClr>
          </a:solidFill>
          <a:ln w="12700">
            <a:solidFill>
              <a:srgbClr val="4F8FFF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85248" y="3108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8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CODEALPHA • TASK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060704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examples below are fictional and safe. Learn the pattern, not the brand.</a:t>
            </a:r>
            <a:endParaRPr lang="en-US" sz="136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2423160" cy="4224528"/>
          </a:xfrm>
          <a:prstGeom prst="roundRect">
            <a:avLst>
              <a:gd name="adj" fmla="val 3019"/>
            </a:avLst>
          </a:prstGeom>
          <a:solidFill>
            <a:srgbClr val="0A192A"/>
          </a:solidFill>
          <a:ln w="12700">
            <a:solidFill>
              <a:srgbClr val="1738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737360"/>
            <a:ext cx="457200" cy="457200"/>
          </a:xfrm>
          <a:prstGeom prst="ellipse">
            <a:avLst/>
          </a:prstGeom>
          <a:solidFill>
            <a:srgbClr val="10243A"/>
          </a:solidFill>
          <a:ln w="12700">
            <a:solidFill>
              <a:srgbClr val="26D9FF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84708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16736" y="177393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spc="90" kern="0" dirty="0">
                <a:solidFill>
                  <a:srgbClr val="2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1140" dirty="0"/>
          </a:p>
        </p:txBody>
      </p:sp>
      <p:sp>
        <p:nvSpPr>
          <p:cNvPr id="11" name="Shape 8"/>
          <p:cNvSpPr/>
          <p:nvPr/>
        </p:nvSpPr>
        <p:spPr>
          <a:xfrm>
            <a:off x="3447288" y="1572768"/>
            <a:ext cx="2423160" cy="4224528"/>
          </a:xfrm>
          <a:prstGeom prst="roundRect">
            <a:avLst>
              <a:gd name="adj" fmla="val 3019"/>
            </a:avLst>
          </a:prstGeom>
          <a:solidFill>
            <a:srgbClr val="0A192A"/>
          </a:solidFill>
          <a:ln w="12700">
            <a:solidFill>
              <a:srgbClr val="17384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93592" y="1737360"/>
            <a:ext cx="457200" cy="457200"/>
          </a:xfrm>
          <a:prstGeom prst="ellipse">
            <a:avLst/>
          </a:prstGeom>
          <a:solidFill>
            <a:srgbClr val="10243A"/>
          </a:solidFill>
          <a:ln w="12700">
            <a:solidFill>
              <a:srgbClr val="57E6A8">
                <a:alpha val="5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03320" y="184708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97096" y="177393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spc="90" kern="0" dirty="0">
                <a:solidFill>
                  <a:srgbClr val="57E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SMS</a:t>
            </a:r>
            <a:endParaRPr lang="en-US" sz="1140" dirty="0"/>
          </a:p>
        </p:txBody>
      </p:sp>
      <p:sp>
        <p:nvSpPr>
          <p:cNvPr id="15" name="Shape 11"/>
          <p:cNvSpPr/>
          <p:nvPr/>
        </p:nvSpPr>
        <p:spPr>
          <a:xfrm>
            <a:off x="6327648" y="1572768"/>
            <a:ext cx="2423160" cy="4224528"/>
          </a:xfrm>
          <a:prstGeom prst="roundRect">
            <a:avLst>
              <a:gd name="adj" fmla="val 3019"/>
            </a:avLst>
          </a:prstGeom>
          <a:solidFill>
            <a:srgbClr val="0A192A"/>
          </a:solidFill>
          <a:ln w="12700">
            <a:solidFill>
              <a:srgbClr val="17384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73952" y="1737360"/>
            <a:ext cx="457200" cy="457200"/>
          </a:xfrm>
          <a:prstGeom prst="ellipse">
            <a:avLst/>
          </a:prstGeom>
          <a:solidFill>
            <a:srgbClr val="10243A"/>
          </a:solidFill>
          <a:ln w="12700">
            <a:solidFill>
              <a:srgbClr val="FF667A">
                <a:alpha val="50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83680" y="184708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77456" y="177393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spc="90" kern="0" dirty="0">
                <a:solidFill>
                  <a:srgbClr val="FF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PHONE CALL</a:t>
            </a:r>
            <a:endParaRPr lang="en-US" sz="1140" dirty="0"/>
          </a:p>
        </p:txBody>
      </p:sp>
      <p:sp>
        <p:nvSpPr>
          <p:cNvPr id="19" name="Shape 14"/>
          <p:cNvSpPr/>
          <p:nvPr/>
        </p:nvSpPr>
        <p:spPr>
          <a:xfrm>
            <a:off x="9208008" y="1572768"/>
            <a:ext cx="2423160" cy="4224528"/>
          </a:xfrm>
          <a:prstGeom prst="roundRect">
            <a:avLst>
              <a:gd name="adj" fmla="val 3019"/>
            </a:avLst>
          </a:prstGeom>
          <a:solidFill>
            <a:srgbClr val="0A192A"/>
          </a:solidFill>
          <a:ln w="12700">
            <a:solidFill>
              <a:srgbClr val="17384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354312" y="1737360"/>
            <a:ext cx="457200" cy="457200"/>
          </a:xfrm>
          <a:prstGeom prst="ellipse">
            <a:avLst/>
          </a:prstGeom>
          <a:solidFill>
            <a:srgbClr val="10243A"/>
          </a:solidFill>
          <a:ln w="12700">
            <a:solidFill>
              <a:srgbClr val="8EDCFF">
                <a:alpha val="50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64040" y="184708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957816" y="177393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spc="90" kern="0" dirty="0">
                <a:solidFill>
                  <a:srgbClr val="8E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CODE</a:t>
            </a:r>
            <a:endParaRPr lang="en-US" sz="1140" dirty="0"/>
          </a:p>
        </p:txBody>
      </p:sp>
      <p:sp>
        <p:nvSpPr>
          <p:cNvPr id="23" name="Shape 17"/>
          <p:cNvSpPr/>
          <p:nvPr/>
        </p:nvSpPr>
        <p:spPr>
          <a:xfrm>
            <a:off x="786384" y="2331720"/>
            <a:ext cx="1984248" cy="1682496"/>
          </a:xfrm>
          <a:prstGeom prst="roundRect">
            <a:avLst>
              <a:gd name="adj" fmla="val 4348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941832" y="24597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24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365</a:t>
            </a:r>
            <a:endParaRPr lang="en-US" sz="1040" dirty="0"/>
          </a:p>
        </p:txBody>
      </p:sp>
      <p:sp>
        <p:nvSpPr>
          <p:cNvPr id="25" name="Text 19"/>
          <p:cNvSpPr/>
          <p:nvPr/>
        </p:nvSpPr>
        <p:spPr>
          <a:xfrm>
            <a:off x="941832" y="2770632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E3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 expires today</a:t>
            </a:r>
            <a:endParaRPr lang="en-US" sz="1120" dirty="0"/>
          </a:p>
        </p:txBody>
      </p:sp>
      <p:sp>
        <p:nvSpPr>
          <p:cNvPr id="26" name="Text 20"/>
          <p:cNvSpPr/>
          <p:nvPr/>
        </p:nvSpPr>
        <p:spPr>
          <a:xfrm>
            <a:off x="941832" y="3063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F63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now to keep access.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941832" y="3502152"/>
            <a:ext cx="1005840" cy="274320"/>
          </a:xfrm>
          <a:prstGeom prst="roundRect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941832" y="35295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880" dirty="0"/>
          </a:p>
        </p:txBody>
      </p:sp>
      <p:sp>
        <p:nvSpPr>
          <p:cNvPr id="29" name="Text 23"/>
          <p:cNvSpPr/>
          <p:nvPr/>
        </p:nvSpPr>
        <p:spPr>
          <a:xfrm>
            <a:off x="786384" y="42793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suspicious?</a:t>
            </a:r>
            <a:endParaRPr lang="en-US" sz="1080" dirty="0"/>
          </a:p>
        </p:txBody>
      </p:sp>
      <p:sp>
        <p:nvSpPr>
          <p:cNvPr id="30" name="Text 24"/>
          <p:cNvSpPr/>
          <p:nvPr/>
        </p:nvSpPr>
        <p:spPr>
          <a:xfrm>
            <a:off x="786384" y="455371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Unexpected password request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Urgent “today” deadline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3776472" y="2331720"/>
            <a:ext cx="1764792" cy="1673352"/>
          </a:xfrm>
          <a:prstGeom prst="roundRect">
            <a:avLst>
              <a:gd name="adj" fmla="val 4372"/>
            </a:avLst>
          </a:prstGeom>
          <a:solidFill>
            <a:srgbClr val="111D29"/>
          </a:solidFill>
          <a:ln w="12700">
            <a:solidFill>
              <a:srgbClr val="314253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3913632" y="2532888"/>
            <a:ext cx="1371600" cy="896112"/>
          </a:xfrm>
          <a:prstGeom prst="roundRect">
            <a:avLst/>
          </a:prstGeom>
          <a:solidFill>
            <a:srgbClr val="233547"/>
          </a:solidFill>
          <a:ln w="12700">
            <a:solidFill>
              <a:srgbClr val="233547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014216" y="2633472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package could not be delivered. Update your address: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4014216" y="3182112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parcel-update.example</a:t>
            </a:r>
            <a:endParaRPr lang="en-US" sz="820" dirty="0"/>
          </a:p>
        </p:txBody>
      </p:sp>
      <p:sp>
        <p:nvSpPr>
          <p:cNvPr id="35" name="Text 29"/>
          <p:cNvSpPr/>
          <p:nvPr/>
        </p:nvSpPr>
        <p:spPr>
          <a:xfrm>
            <a:off x="3675888" y="42793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suspicious?</a:t>
            </a:r>
            <a:endParaRPr lang="en-US" sz="1080" dirty="0"/>
          </a:p>
        </p:txBody>
      </p:sp>
      <p:sp>
        <p:nvSpPr>
          <p:cNvPr id="36" name="Text 30"/>
          <p:cNvSpPr/>
          <p:nvPr/>
        </p:nvSpPr>
        <p:spPr>
          <a:xfrm>
            <a:off x="3675888" y="455371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Unexpected delivery issue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Link asks for personal data</a:t>
            </a:r>
            <a:endParaRPr lang="en-US" sz="100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78040" y="2414016"/>
            <a:ext cx="502920" cy="50292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739128" y="298094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 SECURITY</a:t>
            </a:r>
            <a:endParaRPr lang="en-US" sz="1110" dirty="0"/>
          </a:p>
        </p:txBody>
      </p:sp>
      <p:sp>
        <p:nvSpPr>
          <p:cNvPr id="39" name="Text 32"/>
          <p:cNvSpPr/>
          <p:nvPr/>
        </p:nvSpPr>
        <p:spPr>
          <a:xfrm>
            <a:off x="6629400" y="3337560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7E5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“We need to verify your account. Please tell me the code sent to your phone.”</a:t>
            </a:r>
            <a:endParaRPr lang="en-US" sz="980" dirty="0"/>
          </a:p>
        </p:txBody>
      </p:sp>
      <p:sp>
        <p:nvSpPr>
          <p:cNvPr id="40" name="Text 33"/>
          <p:cNvSpPr/>
          <p:nvPr/>
        </p:nvSpPr>
        <p:spPr>
          <a:xfrm>
            <a:off x="6565392" y="42793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suspicious?</a:t>
            </a:r>
            <a:endParaRPr lang="en-US" sz="1080" dirty="0"/>
          </a:p>
        </p:txBody>
      </p:sp>
      <p:sp>
        <p:nvSpPr>
          <p:cNvPr id="41" name="Text 34"/>
          <p:cNvSpPr/>
          <p:nvPr/>
        </p:nvSpPr>
        <p:spPr>
          <a:xfrm>
            <a:off x="6565392" y="455371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Unsolicited verification call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Requests a one-time code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9674352" y="2304288"/>
            <a:ext cx="12344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B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9765792" y="2395728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9875520" y="2395728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9985248" y="2395728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10204704" y="2395728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10314432" y="2395728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10424160" y="2395728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10643616" y="2395728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9765792" y="2505456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9985248" y="2505456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10204704" y="2505456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10424160" y="2505456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10643616" y="2505456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9765792" y="2615184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9875520" y="2615184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9985248" y="2615184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10204704" y="2615184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10314432" y="2615184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10424160" y="2615184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10643616" y="2615184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62" name="Shape 55"/>
          <p:cNvSpPr/>
          <p:nvPr/>
        </p:nvSpPr>
        <p:spPr>
          <a:xfrm>
            <a:off x="10094976" y="2724912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10314432" y="2724912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9765792" y="2834640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9875520" y="2834640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>
            <a:off x="10094976" y="2834640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67" name="Shape 60"/>
          <p:cNvSpPr/>
          <p:nvPr/>
        </p:nvSpPr>
        <p:spPr>
          <a:xfrm>
            <a:off x="10204704" y="2834640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68" name="Shape 61"/>
          <p:cNvSpPr/>
          <p:nvPr/>
        </p:nvSpPr>
        <p:spPr>
          <a:xfrm>
            <a:off x="10424160" y="2834640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69" name="Shape 62"/>
          <p:cNvSpPr/>
          <p:nvPr/>
        </p:nvSpPr>
        <p:spPr>
          <a:xfrm>
            <a:off x="10533888" y="2834640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70" name="Shape 63"/>
          <p:cNvSpPr/>
          <p:nvPr/>
        </p:nvSpPr>
        <p:spPr>
          <a:xfrm>
            <a:off x="9985248" y="2944368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71" name="Shape 64"/>
          <p:cNvSpPr/>
          <p:nvPr/>
        </p:nvSpPr>
        <p:spPr>
          <a:xfrm>
            <a:off x="10314432" y="2944368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72" name="Shape 65"/>
          <p:cNvSpPr/>
          <p:nvPr/>
        </p:nvSpPr>
        <p:spPr>
          <a:xfrm>
            <a:off x="10643616" y="2944368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73" name="Shape 66"/>
          <p:cNvSpPr/>
          <p:nvPr/>
        </p:nvSpPr>
        <p:spPr>
          <a:xfrm>
            <a:off x="9765792" y="3054096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74" name="Shape 67"/>
          <p:cNvSpPr/>
          <p:nvPr/>
        </p:nvSpPr>
        <p:spPr>
          <a:xfrm>
            <a:off x="9875520" y="3054096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75" name="Shape 68"/>
          <p:cNvSpPr/>
          <p:nvPr/>
        </p:nvSpPr>
        <p:spPr>
          <a:xfrm>
            <a:off x="9985248" y="3054096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76" name="Shape 69"/>
          <p:cNvSpPr/>
          <p:nvPr/>
        </p:nvSpPr>
        <p:spPr>
          <a:xfrm>
            <a:off x="10204704" y="3054096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77" name="Shape 70"/>
          <p:cNvSpPr/>
          <p:nvPr/>
        </p:nvSpPr>
        <p:spPr>
          <a:xfrm>
            <a:off x="10424160" y="3054096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78" name="Shape 71"/>
          <p:cNvSpPr/>
          <p:nvPr/>
        </p:nvSpPr>
        <p:spPr>
          <a:xfrm>
            <a:off x="10533888" y="3054096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79" name="Shape 72"/>
          <p:cNvSpPr/>
          <p:nvPr/>
        </p:nvSpPr>
        <p:spPr>
          <a:xfrm>
            <a:off x="10643616" y="3054096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80" name="Shape 73"/>
          <p:cNvSpPr/>
          <p:nvPr/>
        </p:nvSpPr>
        <p:spPr>
          <a:xfrm>
            <a:off x="9765792" y="3163824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81" name="Shape 74"/>
          <p:cNvSpPr/>
          <p:nvPr/>
        </p:nvSpPr>
        <p:spPr>
          <a:xfrm>
            <a:off x="9985248" y="3163824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82" name="Shape 75"/>
          <p:cNvSpPr/>
          <p:nvPr/>
        </p:nvSpPr>
        <p:spPr>
          <a:xfrm>
            <a:off x="10094976" y="3163824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83" name="Shape 76"/>
          <p:cNvSpPr/>
          <p:nvPr/>
        </p:nvSpPr>
        <p:spPr>
          <a:xfrm>
            <a:off x="10204704" y="3163824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84" name="Shape 77"/>
          <p:cNvSpPr/>
          <p:nvPr/>
        </p:nvSpPr>
        <p:spPr>
          <a:xfrm>
            <a:off x="10314432" y="3163824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85" name="Shape 78"/>
          <p:cNvSpPr/>
          <p:nvPr/>
        </p:nvSpPr>
        <p:spPr>
          <a:xfrm>
            <a:off x="10424160" y="3163824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86" name="Shape 79"/>
          <p:cNvSpPr/>
          <p:nvPr/>
        </p:nvSpPr>
        <p:spPr>
          <a:xfrm>
            <a:off x="10643616" y="3163824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87" name="Shape 80"/>
          <p:cNvSpPr/>
          <p:nvPr/>
        </p:nvSpPr>
        <p:spPr>
          <a:xfrm>
            <a:off x="9765792" y="3273552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88" name="Shape 81"/>
          <p:cNvSpPr/>
          <p:nvPr/>
        </p:nvSpPr>
        <p:spPr>
          <a:xfrm>
            <a:off x="9875520" y="3273552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89" name="Shape 82"/>
          <p:cNvSpPr/>
          <p:nvPr/>
        </p:nvSpPr>
        <p:spPr>
          <a:xfrm>
            <a:off x="9985248" y="3273552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90" name="Shape 83"/>
          <p:cNvSpPr/>
          <p:nvPr/>
        </p:nvSpPr>
        <p:spPr>
          <a:xfrm>
            <a:off x="10314432" y="3273552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91" name="Shape 84"/>
          <p:cNvSpPr/>
          <p:nvPr/>
        </p:nvSpPr>
        <p:spPr>
          <a:xfrm>
            <a:off x="10424160" y="3273552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92" name="Shape 85"/>
          <p:cNvSpPr/>
          <p:nvPr/>
        </p:nvSpPr>
        <p:spPr>
          <a:xfrm>
            <a:off x="10533888" y="3273552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93" name="Shape 86"/>
          <p:cNvSpPr/>
          <p:nvPr/>
        </p:nvSpPr>
        <p:spPr>
          <a:xfrm>
            <a:off x="10643616" y="3273552"/>
            <a:ext cx="96561" cy="96561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/>
            </a:solidFill>
            <a:prstDash val="solid"/>
          </a:ln>
        </p:spPr>
      </p:sp>
      <p:sp>
        <p:nvSpPr>
          <p:cNvPr id="94" name="Text 87"/>
          <p:cNvSpPr/>
          <p:nvPr/>
        </p:nvSpPr>
        <p:spPr>
          <a:xfrm>
            <a:off x="9528048" y="37033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“Scan to receive your free voucher.”</a:t>
            </a:r>
            <a:endParaRPr lang="en-US" sz="1020" dirty="0"/>
          </a:p>
        </p:txBody>
      </p:sp>
      <p:sp>
        <p:nvSpPr>
          <p:cNvPr id="95" name="Text 88"/>
          <p:cNvSpPr/>
          <p:nvPr/>
        </p:nvSpPr>
        <p:spPr>
          <a:xfrm>
            <a:off x="9436608" y="42793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suspicious?</a:t>
            </a:r>
            <a:endParaRPr lang="en-US" sz="1080" dirty="0"/>
          </a:p>
        </p:txBody>
      </p:sp>
      <p:sp>
        <p:nvSpPr>
          <p:cNvPr id="96" name="Text 89"/>
          <p:cNvSpPr/>
          <p:nvPr/>
        </p:nvSpPr>
        <p:spPr>
          <a:xfrm>
            <a:off x="9436608" y="455371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Unexpected reward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Destination hidden in the QR code</a:t>
            </a:r>
            <a:endParaRPr lang="en-US" sz="1000" dirty="0"/>
          </a:p>
        </p:txBody>
      </p:sp>
      <p:sp>
        <p:nvSpPr>
          <p:cNvPr id="97" name="Shape 90"/>
          <p:cNvSpPr/>
          <p:nvPr/>
        </p:nvSpPr>
        <p:spPr>
          <a:xfrm>
            <a:off x="566928" y="5925312"/>
            <a:ext cx="11045952" cy="365760"/>
          </a:xfrm>
          <a:prstGeom prst="roundRect">
            <a:avLst>
              <a:gd name="adj" fmla="val 20000"/>
            </a:avLst>
          </a:prstGeom>
          <a:solidFill>
            <a:srgbClr val="102335"/>
          </a:solidFill>
          <a:ln w="12700">
            <a:solidFill>
              <a:srgbClr val="1D4B65"/>
            </a:solidFill>
            <a:prstDash val="solid"/>
          </a:ln>
        </p:spPr>
      </p:sp>
      <p:sp>
        <p:nvSpPr>
          <p:cNvPr id="98" name="Text 91"/>
          <p:cNvSpPr/>
          <p:nvPr/>
        </p:nvSpPr>
        <p:spPr>
          <a:xfrm>
            <a:off x="822960" y="6007608"/>
            <a:ext cx="10561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DD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to notice: unexpected contact + pressure + request for information, money, login, download, or scan.</a:t>
            </a:r>
            <a:endParaRPr lang="en-US" sz="1080" dirty="0"/>
          </a:p>
        </p:txBody>
      </p:sp>
      <p:sp>
        <p:nvSpPr>
          <p:cNvPr id="99" name="Text 92"/>
          <p:cNvSpPr/>
          <p:nvPr/>
        </p:nvSpPr>
        <p:spPr>
          <a:xfrm>
            <a:off x="566928" y="64556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6F879D"/>
                </a:solidFill>
                <a:uFill>
                  <a:solidFill>
                    <a:srgbClr val="6F879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FBI — Spoofing &amp; Phishing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2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EMAIL RED FLAGS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recognize a phishing email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12096" y="283464"/>
            <a:ext cx="1700784" cy="292608"/>
          </a:xfrm>
          <a:prstGeom prst="roundRect">
            <a:avLst>
              <a:gd name="adj" fmla="val 18750"/>
            </a:avLst>
          </a:prstGeom>
          <a:solidFill>
            <a:srgbClr val="4F8FFF">
              <a:alpha val="15000"/>
            </a:srgbClr>
          </a:solidFill>
          <a:ln w="12700">
            <a:solidFill>
              <a:srgbClr val="4F8FFF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85248" y="3108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8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CODEALPHA • TASK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0607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60" b="1" dirty="0">
                <a:solidFill>
                  <a:srgbClr val="2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you spot the red flags?</a:t>
            </a:r>
            <a:endParaRPr lang="en-US" sz="146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7534656" cy="4553712"/>
          </a:xfrm>
          <a:prstGeom prst="roundRect">
            <a:avLst>
              <a:gd name="adj" fmla="val 1606"/>
            </a:avLst>
          </a:prstGeom>
          <a:solidFill>
            <a:srgbClr val="EEF3F7"/>
          </a:solidFill>
          <a:ln w="16510">
            <a:solidFill>
              <a:srgbClr val="3550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81328"/>
            <a:ext cx="7534656" cy="438912"/>
          </a:xfrm>
          <a:prstGeom prst="rect">
            <a:avLst/>
          </a:prstGeom>
          <a:solidFill>
            <a:srgbClr val="D7E3EC"/>
          </a:solidFill>
          <a:ln w="12700">
            <a:solidFill>
              <a:srgbClr val="D7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60934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344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Inbox  ›  Account Security</a:t>
            </a:r>
            <a:endParaRPr lang="en-US" sz="94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14032" y="1600200"/>
            <a:ext cx="164592" cy="164592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1504" y="1600200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" y="20299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7084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</a:t>
            </a:r>
            <a:endParaRPr lang="en-US" sz="920" dirty="0"/>
          </a:p>
        </p:txBody>
      </p:sp>
      <p:sp>
        <p:nvSpPr>
          <p:cNvPr id="13" name="Text 9"/>
          <p:cNvSpPr/>
          <p:nvPr/>
        </p:nvSpPr>
        <p:spPr>
          <a:xfrm>
            <a:off x="1298448" y="2002536"/>
            <a:ext cx="5806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136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Account Team &lt;account-update@micr0soft-support.example&gt;</a:t>
            </a:r>
            <a:endParaRPr lang="en-US" sz="1020" dirty="0"/>
          </a:p>
        </p:txBody>
      </p:sp>
      <p:sp>
        <p:nvSpPr>
          <p:cNvPr id="14" name="Text 10"/>
          <p:cNvSpPr/>
          <p:nvPr/>
        </p:nvSpPr>
        <p:spPr>
          <a:xfrm>
            <a:off x="804672" y="23225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7084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</a:t>
            </a:r>
            <a:endParaRPr lang="en-US" sz="920" dirty="0"/>
          </a:p>
        </p:txBody>
      </p:sp>
      <p:sp>
        <p:nvSpPr>
          <p:cNvPr id="15" name="Text 11"/>
          <p:cNvSpPr/>
          <p:nvPr/>
        </p:nvSpPr>
        <p:spPr>
          <a:xfrm>
            <a:off x="1298448" y="23042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05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samaa.student@example.com</a:t>
            </a:r>
            <a:endParaRPr lang="en-US" sz="980" dirty="0"/>
          </a:p>
        </p:txBody>
      </p:sp>
      <p:sp>
        <p:nvSpPr>
          <p:cNvPr id="16" name="Text 12"/>
          <p:cNvSpPr/>
          <p:nvPr/>
        </p:nvSpPr>
        <p:spPr>
          <a:xfrm>
            <a:off x="804672" y="267004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7084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</a:t>
            </a:r>
            <a:endParaRPr lang="en-US" sz="920" dirty="0"/>
          </a:p>
        </p:txBody>
      </p:sp>
      <p:sp>
        <p:nvSpPr>
          <p:cNvPr id="17" name="Text 13"/>
          <p:cNvSpPr/>
          <p:nvPr/>
        </p:nvSpPr>
        <p:spPr>
          <a:xfrm>
            <a:off x="1389888" y="2633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URGENT: Verify Your Account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04672" y="3035808"/>
            <a:ext cx="6912864" cy="0"/>
          </a:xfrm>
          <a:prstGeom prst="line">
            <a:avLst/>
          </a:prstGeom>
          <a:noFill/>
          <a:ln w="12700">
            <a:solidFill>
              <a:srgbClr val="C5D0D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96112" y="3246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Hello User,</a:t>
            </a:r>
            <a:endParaRPr lang="en-US" sz="1140" dirty="0"/>
          </a:p>
        </p:txBody>
      </p:sp>
      <p:sp>
        <p:nvSpPr>
          <p:cNvPr id="20" name="Text 16"/>
          <p:cNvSpPr/>
          <p:nvPr/>
        </p:nvSpPr>
        <p:spPr>
          <a:xfrm>
            <a:off x="896112" y="359359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334B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detected unusual activity. Your account will be locked in 30 minutes. Verify now to keep access.</a:t>
            </a:r>
            <a:endParaRPr lang="en-US" sz="1120" dirty="0"/>
          </a:p>
        </p:txBody>
      </p:sp>
      <p:sp>
        <p:nvSpPr>
          <p:cNvPr id="21" name="Shape 17"/>
          <p:cNvSpPr/>
          <p:nvPr/>
        </p:nvSpPr>
        <p:spPr>
          <a:xfrm>
            <a:off x="896112" y="4352544"/>
            <a:ext cx="1481328" cy="438912"/>
          </a:xfrm>
          <a:prstGeom prst="roundRect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32688" y="4443984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ACCOUNT</a:t>
            </a:r>
            <a:endParaRPr lang="en-US" sz="960" dirty="0"/>
          </a:p>
        </p:txBody>
      </p:sp>
      <p:sp>
        <p:nvSpPr>
          <p:cNvPr id="23" name="Text 19"/>
          <p:cNvSpPr/>
          <p:nvPr/>
        </p:nvSpPr>
        <p:spPr>
          <a:xfrm>
            <a:off x="896112" y="493776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5B6F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 preview: https://login-micr0soft365.example/verify</a:t>
            </a:r>
            <a:endParaRPr lang="en-US" sz="91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5376672"/>
            <a:ext cx="146304" cy="14630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115568" y="534009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55E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Security_Update.html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022592" y="1956816"/>
            <a:ext cx="274320" cy="274320"/>
          </a:xfrm>
          <a:prstGeom prst="ellipse">
            <a:avLst/>
          </a:prstGeom>
          <a:solidFill>
            <a:srgbClr val="FF667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022592" y="19613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2542032" y="3182112"/>
            <a:ext cx="274320" cy="274320"/>
          </a:xfrm>
          <a:prstGeom prst="ellipse">
            <a:avLst/>
          </a:prstGeom>
          <a:solidFill>
            <a:srgbClr val="FF667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542032" y="31866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6382512" y="3657600"/>
            <a:ext cx="274320" cy="274320"/>
          </a:xfrm>
          <a:prstGeom prst="ellipse">
            <a:avLst/>
          </a:prstGeom>
          <a:solidFill>
            <a:srgbClr val="FF667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382512" y="36621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2395728" y="4297680"/>
            <a:ext cx="274320" cy="274320"/>
          </a:xfrm>
          <a:prstGeom prst="ellipse">
            <a:avLst/>
          </a:prstGeom>
          <a:solidFill>
            <a:srgbClr val="FF667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2395728" y="430225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6080760" y="4873752"/>
            <a:ext cx="274320" cy="274320"/>
          </a:xfrm>
          <a:prstGeom prst="ellipse">
            <a:avLst/>
          </a:prstGeom>
          <a:solidFill>
            <a:srgbClr val="FF667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080760" y="48783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3182112" y="5285232"/>
            <a:ext cx="274320" cy="274320"/>
          </a:xfrm>
          <a:prstGeom prst="ellipse">
            <a:avLst/>
          </a:prstGeom>
          <a:solidFill>
            <a:srgbClr val="FF667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3182112" y="52898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8339328" y="1481328"/>
            <a:ext cx="3273552" cy="4553712"/>
          </a:xfrm>
          <a:prstGeom prst="roundRect">
            <a:avLst>
              <a:gd name="adj" fmla="val 2235"/>
            </a:avLst>
          </a:prstGeom>
          <a:solidFill>
            <a:srgbClr val="0B1B2C"/>
          </a:solidFill>
          <a:ln w="12700">
            <a:solidFill>
              <a:srgbClr val="21435C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613648" y="17373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spc="100" kern="0" dirty="0">
                <a:solidFill>
                  <a:srgbClr val="FF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FLAGS</a:t>
            </a:r>
            <a:endParaRPr lang="en-US" sz="1220" dirty="0"/>
          </a:p>
        </p:txBody>
      </p:sp>
      <p:sp>
        <p:nvSpPr>
          <p:cNvPr id="40" name="Shape 35"/>
          <p:cNvSpPr/>
          <p:nvPr/>
        </p:nvSpPr>
        <p:spPr>
          <a:xfrm>
            <a:off x="8613648" y="2148840"/>
            <a:ext cx="274320" cy="274320"/>
          </a:xfrm>
          <a:prstGeom prst="ellipse">
            <a:avLst/>
          </a:prstGeom>
          <a:solidFill>
            <a:srgbClr val="FF667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8613648" y="215341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42" name="Text 37"/>
          <p:cNvSpPr/>
          <p:nvPr/>
        </p:nvSpPr>
        <p:spPr>
          <a:xfrm>
            <a:off x="8997696" y="2148840"/>
            <a:ext cx="2240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Look-alike sender domain</a:t>
            </a:r>
            <a:endParaRPr lang="en-US" sz="1040" dirty="0"/>
          </a:p>
        </p:txBody>
      </p:sp>
      <p:sp>
        <p:nvSpPr>
          <p:cNvPr id="43" name="Shape 38"/>
          <p:cNvSpPr/>
          <p:nvPr/>
        </p:nvSpPr>
        <p:spPr>
          <a:xfrm>
            <a:off x="8613648" y="2642616"/>
            <a:ext cx="274320" cy="274320"/>
          </a:xfrm>
          <a:prstGeom prst="ellipse">
            <a:avLst/>
          </a:prstGeom>
          <a:solidFill>
            <a:srgbClr val="FF667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8613648" y="26471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45" name="Text 40"/>
          <p:cNvSpPr/>
          <p:nvPr/>
        </p:nvSpPr>
        <p:spPr>
          <a:xfrm>
            <a:off x="8997696" y="2642616"/>
            <a:ext cx="2240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or unusual greeting</a:t>
            </a:r>
            <a:endParaRPr lang="en-US" sz="1040" dirty="0"/>
          </a:p>
        </p:txBody>
      </p:sp>
      <p:sp>
        <p:nvSpPr>
          <p:cNvPr id="46" name="Shape 41"/>
          <p:cNvSpPr/>
          <p:nvPr/>
        </p:nvSpPr>
        <p:spPr>
          <a:xfrm>
            <a:off x="8613648" y="3136392"/>
            <a:ext cx="274320" cy="274320"/>
          </a:xfrm>
          <a:prstGeom prst="ellipse">
            <a:avLst/>
          </a:prstGeom>
          <a:solidFill>
            <a:srgbClr val="FF667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8613648" y="314096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48" name="Text 43"/>
          <p:cNvSpPr/>
          <p:nvPr/>
        </p:nvSpPr>
        <p:spPr>
          <a:xfrm>
            <a:off x="8997696" y="3136392"/>
            <a:ext cx="2240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Urgency / threat language</a:t>
            </a:r>
            <a:endParaRPr lang="en-US" sz="1040" dirty="0"/>
          </a:p>
        </p:txBody>
      </p:sp>
      <p:sp>
        <p:nvSpPr>
          <p:cNvPr id="49" name="Shape 44"/>
          <p:cNvSpPr/>
          <p:nvPr/>
        </p:nvSpPr>
        <p:spPr>
          <a:xfrm>
            <a:off x="8613648" y="3630168"/>
            <a:ext cx="274320" cy="274320"/>
          </a:xfrm>
          <a:prstGeom prst="ellipse">
            <a:avLst/>
          </a:prstGeom>
          <a:solidFill>
            <a:srgbClr val="FF667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8613648" y="36347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51" name="Text 46"/>
          <p:cNvSpPr/>
          <p:nvPr/>
        </p:nvSpPr>
        <p:spPr>
          <a:xfrm>
            <a:off x="8997696" y="3630168"/>
            <a:ext cx="2240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Unexpected verification request</a:t>
            </a:r>
            <a:endParaRPr lang="en-US" sz="1040" dirty="0"/>
          </a:p>
        </p:txBody>
      </p:sp>
      <p:sp>
        <p:nvSpPr>
          <p:cNvPr id="52" name="Shape 47"/>
          <p:cNvSpPr/>
          <p:nvPr/>
        </p:nvSpPr>
        <p:spPr>
          <a:xfrm>
            <a:off x="8613648" y="4123944"/>
            <a:ext cx="274320" cy="274320"/>
          </a:xfrm>
          <a:prstGeom prst="ellipse">
            <a:avLst/>
          </a:prstGeom>
          <a:solidFill>
            <a:srgbClr val="FF667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8613648" y="41285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50" dirty="0"/>
          </a:p>
        </p:txBody>
      </p:sp>
      <p:sp>
        <p:nvSpPr>
          <p:cNvPr id="54" name="Text 49"/>
          <p:cNvSpPr/>
          <p:nvPr/>
        </p:nvSpPr>
        <p:spPr>
          <a:xfrm>
            <a:off x="8997696" y="4123944"/>
            <a:ext cx="2240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Suspicious or mismatched link</a:t>
            </a:r>
            <a:endParaRPr lang="en-US" sz="1040" dirty="0"/>
          </a:p>
        </p:txBody>
      </p:sp>
      <p:sp>
        <p:nvSpPr>
          <p:cNvPr id="55" name="Shape 50"/>
          <p:cNvSpPr/>
          <p:nvPr/>
        </p:nvSpPr>
        <p:spPr>
          <a:xfrm>
            <a:off x="8613648" y="4617720"/>
            <a:ext cx="274320" cy="274320"/>
          </a:xfrm>
          <a:prstGeom prst="ellipse">
            <a:avLst/>
          </a:prstGeom>
          <a:solidFill>
            <a:srgbClr val="FF667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8613648" y="46222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50" dirty="0"/>
          </a:p>
        </p:txBody>
      </p:sp>
      <p:sp>
        <p:nvSpPr>
          <p:cNvPr id="57" name="Text 52"/>
          <p:cNvSpPr/>
          <p:nvPr/>
        </p:nvSpPr>
        <p:spPr>
          <a:xfrm>
            <a:off x="8997696" y="4617720"/>
            <a:ext cx="2240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Unexpected HTML attachment</a:t>
            </a:r>
            <a:endParaRPr lang="en-US" sz="1040" dirty="0"/>
          </a:p>
        </p:txBody>
      </p:sp>
      <p:sp>
        <p:nvSpPr>
          <p:cNvPr id="58" name="Shape 53"/>
          <p:cNvSpPr/>
          <p:nvPr/>
        </p:nvSpPr>
        <p:spPr>
          <a:xfrm>
            <a:off x="8613648" y="5276088"/>
            <a:ext cx="2724912" cy="512064"/>
          </a:xfrm>
          <a:prstGeom prst="roundRect">
            <a:avLst>
              <a:gd name="adj" fmla="val 14286"/>
            </a:avLst>
          </a:prstGeom>
          <a:solidFill>
            <a:srgbClr val="241D19"/>
          </a:solidFill>
          <a:ln w="12700">
            <a:solidFill>
              <a:srgbClr val="755F31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8796528" y="5367528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grammar ≠ safe. Modern phishing can look polished and professional.</a:t>
            </a:r>
            <a:endParaRPr lang="en-US" sz="950" dirty="0"/>
          </a:p>
        </p:txBody>
      </p:sp>
      <p:sp>
        <p:nvSpPr>
          <p:cNvPr id="60" name="Text 55"/>
          <p:cNvSpPr/>
          <p:nvPr/>
        </p:nvSpPr>
        <p:spPr>
          <a:xfrm>
            <a:off x="566928" y="64556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6F879D"/>
                </a:solidFill>
                <a:uFill>
                  <a:solidFill>
                    <a:srgbClr val="6F879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FBI — Spoofing &amp; Phishing</a:t>
            </a:r>
            <a:pPr indent="0" marL="0">
              <a:buNone/>
            </a:pPr>
            <a:r>
              <a:rPr lang="en-US" sz="750" dirty="0">
                <a:solidFill>
                  <a:srgbClr val="6F8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750" u="sng" dirty="0">
                <a:solidFill>
                  <a:srgbClr val="6F879D"/>
                </a:solidFill>
                <a:uFill>
                  <a:solidFill>
                    <a:srgbClr val="6F879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NIST — Phishing Guidance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2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WEBSITE RED FLAGS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recognize a fake website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12096" y="283464"/>
            <a:ext cx="1700784" cy="292608"/>
          </a:xfrm>
          <a:prstGeom prst="roundRect">
            <a:avLst>
              <a:gd name="adj" fmla="val 18750"/>
            </a:avLst>
          </a:prstGeom>
          <a:solidFill>
            <a:srgbClr val="4F8FFF">
              <a:alpha val="15000"/>
            </a:srgbClr>
          </a:solidFill>
          <a:ln w="12700">
            <a:solidFill>
              <a:srgbClr val="4F8FFF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85248" y="3108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8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CODEALPHA • TASK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060704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page can look professional and still be fake. Verify the domain and the context before you type credentials.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1536192"/>
            <a:ext cx="7333488" cy="4443984"/>
          </a:xfrm>
          <a:prstGeom prst="roundRect">
            <a:avLst>
              <a:gd name="adj" fmla="val 1646"/>
            </a:avLst>
          </a:prstGeom>
          <a:solidFill>
            <a:srgbClr val="F1F5F8"/>
          </a:solidFill>
          <a:ln w="16510">
            <a:solidFill>
              <a:srgbClr val="314E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536192"/>
            <a:ext cx="7333488" cy="475488"/>
          </a:xfrm>
          <a:prstGeom prst="rect">
            <a:avLst/>
          </a:prstGeom>
          <a:solidFill>
            <a:srgbClr val="DCE5EC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691640"/>
            <a:ext cx="100584" cy="100584"/>
          </a:xfrm>
          <a:prstGeom prst="ellipse">
            <a:avLst/>
          </a:prstGeom>
          <a:solidFill>
            <a:srgbClr val="FF6A73"/>
          </a:solidFill>
          <a:ln w="12700">
            <a:solidFill>
              <a:srgbClr val="FF6A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1691640"/>
            <a:ext cx="100584" cy="100584"/>
          </a:xfrm>
          <a:prstGeom prst="ellipse">
            <a:avLst/>
          </a:prstGeom>
          <a:solidFill>
            <a:srgbClr val="FFC85A"/>
          </a:solidFill>
          <a:ln w="12700">
            <a:solidFill>
              <a:srgbClr val="FFC8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16152" y="1691640"/>
            <a:ext cx="100584" cy="100584"/>
          </a:xfrm>
          <a:prstGeom prst="ellipse">
            <a:avLst/>
          </a:prstGeom>
          <a:solidFill>
            <a:srgbClr val="62D98B"/>
          </a:solidFill>
          <a:ln w="12700">
            <a:solidFill>
              <a:srgbClr val="62D9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91056" y="1627632"/>
            <a:ext cx="5468112" cy="292608"/>
          </a:xfrm>
          <a:prstGeom prst="roundRect">
            <a:avLst/>
          </a:prstGeom>
          <a:solidFill>
            <a:srgbClr val="F8FAFB"/>
          </a:solidFill>
          <a:ln w="12700">
            <a:solidFill>
              <a:srgbClr val="C5D2DB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46504" y="1700784"/>
            <a:ext cx="100584" cy="1005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920240" y="1655064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455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https://login-micr0soft365.example/security-check</a:t>
            </a:r>
            <a:endParaRPr lang="en-US" sz="870" dirty="0"/>
          </a:p>
        </p:txBody>
      </p:sp>
      <p:sp>
        <p:nvSpPr>
          <p:cNvPr id="15" name="Shape 12"/>
          <p:cNvSpPr/>
          <p:nvPr/>
        </p:nvSpPr>
        <p:spPr>
          <a:xfrm>
            <a:off x="3090672" y="1636776"/>
            <a:ext cx="987552" cy="237744"/>
          </a:xfrm>
          <a:prstGeom prst="rect">
            <a:avLst/>
          </a:prstGeom>
          <a:solidFill>
            <a:srgbClr val="FF667A">
              <a:alpha val="12000"/>
            </a:srgbClr>
          </a:solidFill>
          <a:ln w="15240">
            <a:solidFill>
              <a:srgbClr val="FF667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78408" y="23865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243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365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978408" y="27614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20" b="1" dirty="0">
                <a:solidFill>
                  <a:srgbClr val="203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verification required</a:t>
            </a:r>
            <a:endParaRPr lang="en-US" sz="2020" dirty="0"/>
          </a:p>
        </p:txBody>
      </p:sp>
      <p:sp>
        <p:nvSpPr>
          <p:cNvPr id="18" name="Text 15"/>
          <p:cNvSpPr/>
          <p:nvPr/>
        </p:nvSpPr>
        <p:spPr>
          <a:xfrm>
            <a:off x="978408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C64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session expires in 03:00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978408" y="37490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8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address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978408" y="3968496"/>
            <a:ext cx="288036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7D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15568" y="4059936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8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samaa.student@example.com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978408" y="45171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8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</a:t>
            </a:r>
            <a:endParaRPr lang="en-US" sz="940" dirty="0"/>
          </a:p>
        </p:txBody>
      </p:sp>
      <p:sp>
        <p:nvSpPr>
          <p:cNvPr id="23" name="Shape 20"/>
          <p:cNvSpPr/>
          <p:nvPr/>
        </p:nvSpPr>
        <p:spPr>
          <a:xfrm>
            <a:off x="978408" y="4736592"/>
            <a:ext cx="288036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7D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15568" y="4828032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8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••••••••••••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242816" y="3968496"/>
            <a:ext cx="2249424" cy="1179576"/>
          </a:xfrm>
          <a:prstGeom prst="roundRect">
            <a:avLst/>
          </a:prstGeom>
          <a:solidFill>
            <a:srgbClr val="E7EEF4"/>
          </a:solidFill>
          <a:ln w="12700">
            <a:solidFill>
              <a:srgbClr val="C7D3D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443984" y="4178808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54D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continue, confirm your mobile number and date of birth.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529584" y="1545336"/>
            <a:ext cx="274320" cy="274320"/>
          </a:xfrm>
          <a:prstGeom prst="ellipse">
            <a:avLst/>
          </a:prstGeom>
          <a:solidFill>
            <a:srgbClr val="FF667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529584" y="15499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086600" y="2157984"/>
            <a:ext cx="274320" cy="274320"/>
          </a:xfrm>
          <a:prstGeom prst="ellipse">
            <a:avLst/>
          </a:prstGeom>
          <a:solidFill>
            <a:srgbClr val="FF667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086600" y="21625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675888" y="3182112"/>
            <a:ext cx="274320" cy="274320"/>
          </a:xfrm>
          <a:prstGeom prst="ellipse">
            <a:avLst/>
          </a:prstGeom>
          <a:solidFill>
            <a:srgbClr val="FF667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675888" y="31866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611112" y="4288536"/>
            <a:ext cx="274320" cy="274320"/>
          </a:xfrm>
          <a:prstGeom prst="ellipse">
            <a:avLst/>
          </a:prstGeom>
          <a:solidFill>
            <a:srgbClr val="FF667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611112" y="42931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8147304" y="1536192"/>
            <a:ext cx="3465576" cy="4443984"/>
          </a:xfrm>
          <a:prstGeom prst="roundRect">
            <a:avLst>
              <a:gd name="adj" fmla="val 2111"/>
            </a:avLst>
          </a:prstGeom>
          <a:solidFill>
            <a:srgbClr val="0B1B2C"/>
          </a:solidFill>
          <a:ln w="12700">
            <a:solidFill>
              <a:srgbClr val="21435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430768" y="17739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b="1" spc="80" kern="0" dirty="0">
                <a:solidFill>
                  <a:srgbClr val="2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BEFORE YOU LOGIN</a:t>
            </a:r>
            <a:endParaRPr lang="en-US" sz="1180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30768" y="2221992"/>
            <a:ext cx="173736" cy="173736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8705088" y="219456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Lookalike / misspelled domain</a:t>
            </a:r>
            <a:endParaRPr lang="en-US" sz="102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0768" y="2697480"/>
            <a:ext cx="173736" cy="173736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8705088" y="267004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Unexpected login request</a:t>
            </a:r>
            <a:endParaRPr lang="en-US" sz="1020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30768" y="3172968"/>
            <a:ext cx="173736" cy="173736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8705088" y="3145536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Strange URL or unusual redirect</a:t>
            </a:r>
            <a:endParaRPr lang="en-US" sz="1020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30768" y="3648456"/>
            <a:ext cx="173736" cy="173736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8705088" y="3621024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Asks for unnecessary information</a:t>
            </a:r>
            <a:endParaRPr lang="en-US" sz="1020" dirty="0"/>
          </a:p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30768" y="4123944"/>
            <a:ext cx="173736" cy="173736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8705088" y="409651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Branding or layout inconsistencies</a:t>
            </a:r>
            <a:endParaRPr lang="en-US" sz="1020" dirty="0"/>
          </a:p>
        </p:txBody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30768" y="4599432"/>
            <a:ext cx="173736" cy="173736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8705088" y="457200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Pressure, countdown, or threat</a:t>
            </a:r>
            <a:endParaRPr lang="en-US" sz="1020" dirty="0"/>
          </a:p>
        </p:txBody>
      </p:sp>
      <p:sp>
        <p:nvSpPr>
          <p:cNvPr id="49" name="Shape 40"/>
          <p:cNvSpPr/>
          <p:nvPr/>
        </p:nvSpPr>
        <p:spPr>
          <a:xfrm>
            <a:off x="8394192" y="5129784"/>
            <a:ext cx="2962656" cy="585216"/>
          </a:xfrm>
          <a:prstGeom prst="roundRect">
            <a:avLst>
              <a:gd name="adj" fmla="val 12500"/>
            </a:avLst>
          </a:prstGeom>
          <a:solidFill>
            <a:srgbClr val="13263A"/>
          </a:solidFill>
          <a:ln w="12700">
            <a:solidFill>
              <a:srgbClr val="1C5D79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8577072" y="5221224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DD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 / a padlock does NOT prove the site is trustworthy. It only protects the connection.</a:t>
            </a:r>
            <a:endParaRPr lang="en-US" sz="940" dirty="0"/>
          </a:p>
        </p:txBody>
      </p:sp>
      <p:sp>
        <p:nvSpPr>
          <p:cNvPr id="51" name="Text 42"/>
          <p:cNvSpPr/>
          <p:nvPr/>
        </p:nvSpPr>
        <p:spPr>
          <a:xfrm>
            <a:off x="566928" y="64556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6F879D"/>
                </a:solidFill>
                <a:uFill>
                  <a:solidFill>
                    <a:srgbClr val="6F879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FBI — Spoofing &amp; Phishing</a:t>
            </a:r>
            <a:pPr indent="0" marL="0">
              <a:buNone/>
            </a:pPr>
            <a:r>
              <a:rPr lang="en-US" sz="750" dirty="0">
                <a:solidFill>
                  <a:srgbClr val="6F8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750" u="sng" dirty="0">
                <a:solidFill>
                  <a:srgbClr val="6F879D"/>
                </a:solidFill>
                <a:uFill>
                  <a:solidFill>
                    <a:srgbClr val="6F879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CISA — Secure Our World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2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AWARENESS MATTERS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major real-world case: vendor impersonation BEC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12096" y="283464"/>
            <a:ext cx="1700784" cy="292608"/>
          </a:xfrm>
          <a:prstGeom prst="roundRect">
            <a:avLst>
              <a:gd name="adj" fmla="val 18750"/>
            </a:avLst>
          </a:prstGeom>
          <a:solidFill>
            <a:srgbClr val="4F8FFF">
              <a:alpha val="15000"/>
            </a:srgbClr>
          </a:solidFill>
          <a:ln w="12700">
            <a:solidFill>
              <a:srgbClr val="4F8FFF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85248" y="3108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8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CODEALPHA • TASK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0607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U.S. federal prosecutors described a business email compromise scheme that caused two U.S.-based internet companies to transfer more than $120 million.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3063240" cy="4315968"/>
          </a:xfrm>
          <a:prstGeom prst="roundRect">
            <a:avLst>
              <a:gd name="adj" fmla="val 2388"/>
            </a:avLst>
          </a:prstGeom>
          <a:solidFill>
            <a:srgbClr val="0B1A2A"/>
          </a:solidFill>
          <a:ln w="12700">
            <a:solidFill>
              <a:srgbClr val="1C43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11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2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2013–2015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239572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&gt;$120M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68680" y="2999232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transferred to accounts controlled by the fraudster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868680" y="3703320"/>
            <a:ext cx="2304288" cy="0"/>
          </a:xfrm>
          <a:prstGeom prst="line">
            <a:avLst/>
          </a:prstGeom>
          <a:noFill/>
          <a:ln w="15240">
            <a:solidFill>
              <a:srgbClr val="224C66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680" y="3941064"/>
            <a:ext cx="310896" cy="31089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07592" y="3904488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victim companies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868680" y="4315968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multinational technology company and a multinational social-media company.</a:t>
            </a:r>
            <a:endParaRPr lang="en-US" sz="104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680" y="5138928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07592" y="50932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2019 outcome</a:t>
            </a:r>
            <a:endParaRPr lang="en-US" sz="1120" dirty="0"/>
          </a:p>
        </p:txBody>
      </p:sp>
      <p:sp>
        <p:nvSpPr>
          <p:cNvPr id="17" name="Text 13"/>
          <p:cNvSpPr/>
          <p:nvPr/>
        </p:nvSpPr>
        <p:spPr>
          <a:xfrm>
            <a:off x="868680" y="5468112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Guilty plea followed by a 60-month prison sentence.</a:t>
            </a:r>
            <a:endParaRPr lang="en-US" sz="1010" dirty="0"/>
          </a:p>
        </p:txBody>
      </p:sp>
      <p:sp>
        <p:nvSpPr>
          <p:cNvPr id="18" name="Shape 14"/>
          <p:cNvSpPr/>
          <p:nvPr/>
        </p:nvSpPr>
        <p:spPr>
          <a:xfrm>
            <a:off x="3968496" y="1737360"/>
            <a:ext cx="7644384" cy="859536"/>
          </a:xfrm>
          <a:prstGeom prst="roundRect">
            <a:avLst>
              <a:gd name="adj" fmla="val 8511"/>
            </a:avLst>
          </a:prstGeom>
          <a:solidFill>
            <a:srgbClr val="0C1D2F"/>
          </a:solidFill>
          <a:ln w="12700">
            <a:solidFill>
              <a:srgbClr val="173A5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187952" y="1920240"/>
            <a:ext cx="475488" cy="475488"/>
          </a:xfrm>
          <a:prstGeom prst="ellipse">
            <a:avLst/>
          </a:prstGeom>
          <a:solidFill>
            <a:srgbClr val="10253A"/>
          </a:solidFill>
          <a:ln w="12700">
            <a:solidFill>
              <a:srgbClr val="26D9FF">
                <a:alpha val="5000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02069" y="2034357"/>
            <a:ext cx="247254" cy="24725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09744" y="186537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Copycat supplier identity</a:t>
            </a:r>
            <a:endParaRPr lang="en-US" sz="1220" dirty="0"/>
          </a:p>
        </p:txBody>
      </p:sp>
      <p:sp>
        <p:nvSpPr>
          <p:cNvPr id="22" name="Text 17"/>
          <p:cNvSpPr/>
          <p:nvPr/>
        </p:nvSpPr>
        <p:spPr>
          <a:xfrm>
            <a:off x="6876288" y="1856232"/>
            <a:ext cx="4325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company was registered with the same name as a real hardware supplier.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3968496" y="2761488"/>
            <a:ext cx="7644384" cy="859536"/>
          </a:xfrm>
          <a:prstGeom prst="roundRect">
            <a:avLst>
              <a:gd name="adj" fmla="val 8511"/>
            </a:avLst>
          </a:prstGeom>
          <a:solidFill>
            <a:srgbClr val="0A1929"/>
          </a:solidFill>
          <a:ln w="12700">
            <a:solidFill>
              <a:srgbClr val="173A5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187952" y="2944368"/>
            <a:ext cx="475488" cy="475488"/>
          </a:xfrm>
          <a:prstGeom prst="ellipse">
            <a:avLst/>
          </a:prstGeom>
          <a:solidFill>
            <a:srgbClr val="10253A"/>
          </a:solidFill>
          <a:ln w="12700">
            <a:solidFill>
              <a:srgbClr val="FF667A">
                <a:alpha val="5000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02069" y="3058485"/>
            <a:ext cx="247254" cy="24725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809744" y="2889504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Fraudulent phishing emails</a:t>
            </a:r>
            <a:endParaRPr lang="en-US" sz="1220" dirty="0"/>
          </a:p>
        </p:txBody>
      </p:sp>
      <p:sp>
        <p:nvSpPr>
          <p:cNvPr id="27" name="Text 21"/>
          <p:cNvSpPr/>
          <p:nvPr/>
        </p:nvSpPr>
        <p:spPr>
          <a:xfrm>
            <a:off x="6876288" y="2880360"/>
            <a:ext cx="4325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Emails impersonated the supplier and changed where legitimate payments should be sent.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968496" y="3785616"/>
            <a:ext cx="7644384" cy="859536"/>
          </a:xfrm>
          <a:prstGeom prst="roundRect">
            <a:avLst>
              <a:gd name="adj" fmla="val 8511"/>
            </a:avLst>
          </a:prstGeom>
          <a:solidFill>
            <a:srgbClr val="0C1D2F"/>
          </a:solidFill>
          <a:ln w="12700">
            <a:solidFill>
              <a:srgbClr val="173A53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187952" y="3968496"/>
            <a:ext cx="475488" cy="475488"/>
          </a:xfrm>
          <a:prstGeom prst="ellipse">
            <a:avLst/>
          </a:prstGeom>
          <a:solidFill>
            <a:srgbClr val="10253A"/>
          </a:solidFill>
          <a:ln w="12700">
            <a:solidFill>
              <a:srgbClr val="57E6A8">
                <a:alpha val="50000"/>
              </a:srgbClr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02069" y="4082613"/>
            <a:ext cx="247254" cy="24725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809744" y="391363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57E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Wire transfers redirected</a:t>
            </a:r>
            <a:endParaRPr lang="en-US" sz="1220" dirty="0"/>
          </a:p>
        </p:txBody>
      </p:sp>
      <p:sp>
        <p:nvSpPr>
          <p:cNvPr id="32" name="Text 25"/>
          <p:cNvSpPr/>
          <p:nvPr/>
        </p:nvSpPr>
        <p:spPr>
          <a:xfrm>
            <a:off x="6876288" y="3904488"/>
            <a:ext cx="4325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Employees followed the fake instructions and transferred funds to controlled accounts.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3968496" y="4809744"/>
            <a:ext cx="7644384" cy="859536"/>
          </a:xfrm>
          <a:prstGeom prst="roundRect">
            <a:avLst>
              <a:gd name="adj" fmla="val 8511"/>
            </a:avLst>
          </a:prstGeom>
          <a:solidFill>
            <a:srgbClr val="0A1929"/>
          </a:solidFill>
          <a:ln w="12700">
            <a:solidFill>
              <a:srgbClr val="173A53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4187952" y="4992624"/>
            <a:ext cx="475488" cy="475488"/>
          </a:xfrm>
          <a:prstGeom prst="ellipse">
            <a:avLst/>
          </a:prstGeom>
          <a:solidFill>
            <a:srgbClr val="10253A"/>
          </a:solidFill>
          <a:ln w="12700">
            <a:solidFill>
              <a:srgbClr val="FFC857">
                <a:alpha val="50000"/>
              </a:srgbClr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02069" y="5106741"/>
            <a:ext cx="247254" cy="24725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809744" y="493776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Forged documents + laundering</a:t>
            </a:r>
            <a:endParaRPr lang="en-US" sz="1220" dirty="0"/>
          </a:p>
        </p:txBody>
      </p:sp>
      <p:sp>
        <p:nvSpPr>
          <p:cNvPr id="37" name="Text 29"/>
          <p:cNvSpPr/>
          <p:nvPr/>
        </p:nvSpPr>
        <p:spPr>
          <a:xfrm>
            <a:off x="6876288" y="4928616"/>
            <a:ext cx="4325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Forged invoices, contracts and letters supported transfers; funds were moved internationally.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3968496" y="5843016"/>
            <a:ext cx="7644384" cy="347472"/>
          </a:xfrm>
          <a:prstGeom prst="roundRect">
            <a:avLst>
              <a:gd name="adj" fmla="val 21053"/>
            </a:avLst>
          </a:prstGeom>
          <a:solidFill>
            <a:srgbClr val="102735"/>
          </a:solidFill>
          <a:ln w="12700">
            <a:solidFill>
              <a:srgbClr val="2C6E73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4187952" y="5916168"/>
            <a:ext cx="7196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57E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Lesson: independently verify payment changes. Never rely on email alone for unusual transfer instructions.</a:t>
            </a:r>
            <a:endParaRPr lang="en-US" sz="1040" dirty="0"/>
          </a:p>
        </p:txBody>
      </p:sp>
      <p:sp>
        <p:nvSpPr>
          <p:cNvPr id="40" name="Text 32"/>
          <p:cNvSpPr/>
          <p:nvPr/>
        </p:nvSpPr>
        <p:spPr>
          <a:xfrm>
            <a:off x="566928" y="64556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6F879D"/>
                </a:solidFill>
                <a:uFill>
                  <a:solidFill>
                    <a:srgbClr val="6F879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U.S. DOJ — SDNY, Dec. 19, 2019</a:t>
            </a:r>
            <a:pPr indent="0" marL="0">
              <a:buNone/>
            </a:pPr>
            <a:r>
              <a:rPr lang="en-US" sz="750" dirty="0">
                <a:solidFill>
                  <a:srgbClr val="6F8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750" u="sng" dirty="0">
                <a:solidFill>
                  <a:srgbClr val="6F879D"/>
                </a:solidFill>
                <a:uFill>
                  <a:solidFill>
                    <a:srgbClr val="6F879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FBI — Business Email Compromise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0CB5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CORRECTLY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75488" y="72237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Do If You Suspect Phishing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12096" y="320040"/>
            <a:ext cx="1700784" cy="292608"/>
          </a:xfrm>
          <a:prstGeom prst="roundRect">
            <a:avLst>
              <a:gd name="adj" fmla="val 18750"/>
            </a:avLst>
          </a:prstGeom>
          <a:solidFill>
            <a:srgbClr val="4F8FFF">
              <a:alpha val="15000"/>
            </a:srgbClr>
          </a:solidFill>
          <a:ln w="12700">
            <a:solidFill>
              <a:srgbClr val="4F8FFF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85248" y="3474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8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CODEALPHA • TASK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" y="13533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66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safest move is to slow the situation down. Do not investigate by interacting with the suspicious message.</a:t>
            </a:r>
            <a:endParaRPr lang="en-US" sz="1360" dirty="0"/>
          </a:p>
        </p:txBody>
      </p:sp>
      <p:sp>
        <p:nvSpPr>
          <p:cNvPr id="7" name="Shape 5"/>
          <p:cNvSpPr/>
          <p:nvPr/>
        </p:nvSpPr>
        <p:spPr>
          <a:xfrm>
            <a:off x="475488" y="1892808"/>
            <a:ext cx="1828800" cy="3401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7EE"/>
            </a:solidFill>
            <a:prstDash val="solid"/>
          </a:ln>
          <a:effectLst>
            <a:outerShdw sx="100000" sy="100000" kx="0" ky="0" algn="bl" rotWithShape="0" blurRad="15240" dist="50800" dir="2700000">
              <a:srgbClr val="9BAABA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24128" y="1554480"/>
            <a:ext cx="731520" cy="731520"/>
          </a:xfrm>
          <a:prstGeom prst="ellipse">
            <a:avLst/>
          </a:prstGeom>
          <a:solidFill>
            <a:srgbClr val="0A2038"/>
          </a:solidFill>
          <a:ln w="25400">
            <a:solidFill>
              <a:srgbClr val="0CB5D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43584" y="1773936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4088" y="24323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spc="90" kern="0" dirty="0">
                <a:solidFill>
                  <a:srgbClr val="0CB5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621792" y="278892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0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Pause &amp; Inspect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3538728"/>
            <a:ext cx="14996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475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the full sender address, context and destination of links without clicking.</a:t>
            </a:r>
            <a:endParaRPr lang="en-US" sz="970" dirty="0"/>
          </a:p>
        </p:txBody>
      </p:sp>
      <p:sp>
        <p:nvSpPr>
          <p:cNvPr id="13" name="Shape 10"/>
          <p:cNvSpPr/>
          <p:nvPr/>
        </p:nvSpPr>
        <p:spPr>
          <a:xfrm>
            <a:off x="2834640" y="1892808"/>
            <a:ext cx="1828800" cy="3401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7EE"/>
            </a:solidFill>
            <a:prstDash val="solid"/>
          </a:ln>
          <a:effectLst>
            <a:outerShdw sx="100000" sy="100000" kx="0" ky="0" algn="bl" rotWithShape="0" blurRad="15240" dist="50800" dir="2700000">
              <a:srgbClr val="9BAABA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83280" y="1554480"/>
            <a:ext cx="731520" cy="731520"/>
          </a:xfrm>
          <a:prstGeom prst="ellipse">
            <a:avLst/>
          </a:prstGeom>
          <a:solidFill>
            <a:srgbClr val="0A2038"/>
          </a:solidFill>
          <a:ln w="25400">
            <a:solidFill>
              <a:srgbClr val="2C76F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02736" y="1773936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063240" y="24323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spc="90" kern="0" dirty="0">
                <a:solidFill>
                  <a:srgbClr val="2C7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880" dirty="0"/>
          </a:p>
        </p:txBody>
      </p:sp>
      <p:sp>
        <p:nvSpPr>
          <p:cNvPr id="17" name="Text 13"/>
          <p:cNvSpPr/>
          <p:nvPr/>
        </p:nvSpPr>
        <p:spPr>
          <a:xfrm>
            <a:off x="2980944" y="278892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0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Don't Interact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2999232" y="3538728"/>
            <a:ext cx="14996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475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click links, open attachments, reply with data, scan a QR code, or call a number in the message.</a:t>
            </a:r>
            <a:endParaRPr lang="en-US" sz="970" dirty="0"/>
          </a:p>
        </p:txBody>
      </p:sp>
      <p:sp>
        <p:nvSpPr>
          <p:cNvPr id="19" name="Shape 15"/>
          <p:cNvSpPr/>
          <p:nvPr/>
        </p:nvSpPr>
        <p:spPr>
          <a:xfrm>
            <a:off x="5193792" y="1892808"/>
            <a:ext cx="1828800" cy="3401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7EE"/>
            </a:solidFill>
            <a:prstDash val="solid"/>
          </a:ln>
          <a:effectLst>
            <a:outerShdw sx="100000" sy="100000" kx="0" ky="0" algn="bl" rotWithShape="0" blurRad="15240" dist="50800" dir="2700000">
              <a:srgbClr val="9BAABA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742432" y="1554480"/>
            <a:ext cx="731520" cy="731520"/>
          </a:xfrm>
          <a:prstGeom prst="ellipse">
            <a:avLst/>
          </a:prstGeom>
          <a:solidFill>
            <a:srgbClr val="0A2038"/>
          </a:solidFill>
          <a:ln w="25400">
            <a:solidFill>
              <a:srgbClr val="21B887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61888" y="1773936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422392" y="24323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spc="90" kern="0" dirty="0">
                <a:solidFill>
                  <a:srgbClr val="21B8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880" dirty="0"/>
          </a:p>
        </p:txBody>
      </p:sp>
      <p:sp>
        <p:nvSpPr>
          <p:cNvPr id="23" name="Text 18"/>
          <p:cNvSpPr/>
          <p:nvPr/>
        </p:nvSpPr>
        <p:spPr>
          <a:xfrm>
            <a:off x="5340096" y="278892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0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Independently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5358384" y="3538728"/>
            <a:ext cx="14996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475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official app, website, saved contact or a known phone number to verify the request.</a:t>
            </a:r>
            <a:endParaRPr lang="en-US" sz="970" dirty="0"/>
          </a:p>
        </p:txBody>
      </p:sp>
      <p:sp>
        <p:nvSpPr>
          <p:cNvPr id="25" name="Shape 20"/>
          <p:cNvSpPr/>
          <p:nvPr/>
        </p:nvSpPr>
        <p:spPr>
          <a:xfrm>
            <a:off x="7552944" y="1892808"/>
            <a:ext cx="1828800" cy="3401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7EE"/>
            </a:solidFill>
            <a:prstDash val="solid"/>
          </a:ln>
          <a:effectLst>
            <a:outerShdw sx="100000" sy="100000" kx="0" ky="0" algn="bl" rotWithShape="0" blurRad="15240" dist="50800" dir="2700000">
              <a:srgbClr val="9BAABA">
                <a:alpha val="14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101584" y="1554480"/>
            <a:ext cx="731520" cy="731520"/>
          </a:xfrm>
          <a:prstGeom prst="ellipse">
            <a:avLst/>
          </a:prstGeom>
          <a:solidFill>
            <a:srgbClr val="0A2038"/>
          </a:solidFill>
          <a:ln w="25400">
            <a:solidFill>
              <a:srgbClr val="8A63D2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21040" y="1773936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781544" y="24323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spc="90" kern="0" dirty="0">
                <a:solidFill>
                  <a:srgbClr val="8A63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</a:t>
            </a:r>
            <a:endParaRPr lang="en-US" sz="880" dirty="0"/>
          </a:p>
        </p:txBody>
      </p:sp>
      <p:sp>
        <p:nvSpPr>
          <p:cNvPr id="29" name="Text 23"/>
          <p:cNvSpPr/>
          <p:nvPr/>
        </p:nvSpPr>
        <p:spPr>
          <a:xfrm>
            <a:off x="7699248" y="278892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0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It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7717536" y="3538728"/>
            <a:ext cx="14996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475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report-phishing option or notify the appropriate IT/security team or service.</a:t>
            </a:r>
            <a:endParaRPr lang="en-US" sz="970" dirty="0"/>
          </a:p>
        </p:txBody>
      </p:sp>
      <p:sp>
        <p:nvSpPr>
          <p:cNvPr id="31" name="Shape 25"/>
          <p:cNvSpPr/>
          <p:nvPr/>
        </p:nvSpPr>
        <p:spPr>
          <a:xfrm>
            <a:off x="9912096" y="1892808"/>
            <a:ext cx="1828800" cy="3401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7EE"/>
            </a:solidFill>
            <a:prstDash val="solid"/>
          </a:ln>
          <a:effectLst>
            <a:outerShdw sx="100000" sy="100000" kx="0" ky="0" algn="bl" rotWithShape="0" blurRad="15240" dist="50800" dir="2700000">
              <a:srgbClr val="9BAABA">
                <a:alpha val="14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10460736" y="1554480"/>
            <a:ext cx="731520" cy="731520"/>
          </a:xfrm>
          <a:prstGeom prst="ellipse">
            <a:avLst/>
          </a:prstGeom>
          <a:solidFill>
            <a:srgbClr val="0A2038"/>
          </a:solidFill>
          <a:ln w="25400">
            <a:solidFill>
              <a:srgbClr val="EF6578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680192" y="1773936"/>
            <a:ext cx="292608" cy="29260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0140696" y="24323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spc="90" kern="0" dirty="0">
                <a:solidFill>
                  <a:srgbClr val="EF6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5</a:t>
            </a:r>
            <a:endParaRPr lang="en-US" sz="880" dirty="0"/>
          </a:p>
        </p:txBody>
      </p:sp>
      <p:sp>
        <p:nvSpPr>
          <p:cNvPr id="35" name="Text 28"/>
          <p:cNvSpPr/>
          <p:nvPr/>
        </p:nvSpPr>
        <p:spPr>
          <a:xfrm>
            <a:off x="10058400" y="278892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0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/ Block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10076688" y="3538728"/>
            <a:ext cx="14996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475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reporting, delete the message and block the sender when appropriate.</a:t>
            </a:r>
            <a:endParaRPr lang="en-US" sz="970" dirty="0"/>
          </a:p>
        </p:txBody>
      </p:sp>
      <p:sp>
        <p:nvSpPr>
          <p:cNvPr id="37" name="Shape 30"/>
          <p:cNvSpPr/>
          <p:nvPr/>
        </p:nvSpPr>
        <p:spPr>
          <a:xfrm>
            <a:off x="475488" y="5559552"/>
            <a:ext cx="11137392" cy="594360"/>
          </a:xfrm>
          <a:prstGeom prst="roundRect">
            <a:avLst>
              <a:gd name="adj" fmla="val 12308"/>
            </a:avLst>
          </a:prstGeom>
          <a:solidFill>
            <a:srgbClr val="0A2038"/>
          </a:solidFill>
          <a:ln w="12700">
            <a:solidFill>
              <a:srgbClr val="0A2038"/>
            </a:solidFill>
            <a:prstDash val="solid"/>
          </a:ln>
          <a:effectLst>
            <a:outerShdw sx="100000" sy="100000" kx="0" ky="0" algn="bl" rotWithShape="0" blurRad="15240" dist="50800" dir="2700000">
              <a:srgbClr val="9BAABA">
                <a:alpha val="14000"/>
              </a:srgbClr>
            </a:outerShdw>
          </a:effectLst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9808" y="5724144"/>
            <a:ext cx="219456" cy="21945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097280" y="564184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spc="70" kern="0" dirty="0">
                <a:solidFill>
                  <a:srgbClr val="2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ALREADY CLICKED OR ENTERED DETAILS?</a:t>
            </a:r>
            <a:endParaRPr lang="en-US" sz="980" dirty="0"/>
          </a:p>
        </p:txBody>
      </p:sp>
      <p:sp>
        <p:nvSpPr>
          <p:cNvPr id="40" name="Text 32"/>
          <p:cNvSpPr/>
          <p:nvPr/>
        </p:nvSpPr>
        <p:spPr>
          <a:xfrm>
            <a:off x="3383280" y="5605272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the password from the official site, enable MFA, sign out other sessions, and contact IT/security or your bank if financial information may be at risk.</a:t>
            </a:r>
            <a:endParaRPr lang="en-US" sz="1030" dirty="0"/>
          </a:p>
        </p:txBody>
      </p:sp>
      <p:sp>
        <p:nvSpPr>
          <p:cNvPr id="41" name="Text 33"/>
          <p:cNvSpPr/>
          <p:nvPr/>
        </p:nvSpPr>
        <p:spPr>
          <a:xfrm>
            <a:off x="475488" y="64556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u="sng" dirty="0">
                <a:solidFill>
                  <a:srgbClr val="98A7B4"/>
                </a:solidFill>
                <a:uFill>
                  <a:solidFill>
                    <a:srgbClr val="98A7B4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CISA — Secure Our World</a:t>
            </a:r>
            <a:pPr indent="0" marL="0">
              <a:buNone/>
            </a:pPr>
            <a:r>
              <a:rPr lang="en-US" sz="740" dirty="0">
                <a:solidFill>
                  <a:srgbClr val="98A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740" u="sng" dirty="0">
                <a:solidFill>
                  <a:srgbClr val="98A7B4"/>
                </a:solidFill>
                <a:uFill>
                  <a:solidFill>
                    <a:srgbClr val="98A7B4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FBI — Spoofing &amp; Phishing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1A0A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2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 PROTECTED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Prevention Best Practices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12096" y="283464"/>
            <a:ext cx="1700784" cy="292608"/>
          </a:xfrm>
          <a:prstGeom prst="roundRect">
            <a:avLst>
              <a:gd name="adj" fmla="val 18750"/>
            </a:avLst>
          </a:prstGeom>
          <a:solidFill>
            <a:srgbClr val="4F8FFF">
              <a:alpha val="15000"/>
            </a:srgbClr>
          </a:solidFill>
          <a:ln w="12700">
            <a:solidFill>
              <a:srgbClr val="4F8FFF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85248" y="3108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8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CODEALPHA • TASK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07899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habits reduce the chance of a bad click; technical safeguards reduce the damage if one happens.</a:t>
            </a:r>
            <a:endParaRPr lang="en-US" sz="1380" dirty="0"/>
          </a:p>
        </p:txBody>
      </p:sp>
      <p:sp>
        <p:nvSpPr>
          <p:cNvPr id="7" name="Shape 5"/>
          <p:cNvSpPr/>
          <p:nvPr/>
        </p:nvSpPr>
        <p:spPr>
          <a:xfrm>
            <a:off x="566928" y="1609344"/>
            <a:ext cx="5358384" cy="4407408"/>
          </a:xfrm>
          <a:prstGeom prst="roundRect">
            <a:avLst>
              <a:gd name="adj" fmla="val 1660"/>
            </a:avLst>
          </a:prstGeom>
          <a:solidFill>
            <a:srgbClr val="12294A"/>
          </a:solidFill>
          <a:ln w="12700">
            <a:solidFill>
              <a:srgbClr val="2446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20240"/>
            <a:ext cx="548640" cy="548640"/>
          </a:xfrm>
          <a:prstGeom prst="ellipse">
            <a:avLst/>
          </a:prstGeom>
          <a:solidFill>
            <a:srgbClr val="173357"/>
          </a:solidFill>
          <a:ln w="12700">
            <a:solidFill>
              <a:srgbClr val="26D9FF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2922" y="2051914"/>
            <a:ext cx="285293" cy="28529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72768" y="19476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Habits</a:t>
            </a:r>
            <a:endParaRPr lang="en-US" sz="1430" dirty="0"/>
          </a:p>
        </p:txBody>
      </p:sp>
      <p:sp>
        <p:nvSpPr>
          <p:cNvPr id="11" name="Shape 8"/>
          <p:cNvSpPr/>
          <p:nvPr/>
        </p:nvSpPr>
        <p:spPr>
          <a:xfrm>
            <a:off x="868680" y="2633472"/>
            <a:ext cx="91440" cy="91440"/>
          </a:xfrm>
          <a:prstGeom prst="ellipse">
            <a:avLst/>
          </a:prstGeom>
          <a:solidFill>
            <a:srgbClr val="26D9FF"/>
          </a:solidFill>
          <a:ln w="12700">
            <a:solidFill>
              <a:srgbClr val="26D9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514600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DF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before you click — slow down on urgent messages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868680" y="3328416"/>
            <a:ext cx="91440" cy="91440"/>
          </a:xfrm>
          <a:prstGeom prst="ellipse">
            <a:avLst/>
          </a:prstGeom>
          <a:solidFill>
            <a:srgbClr val="26D9FF"/>
          </a:solidFill>
          <a:ln w="12700">
            <a:solidFill>
              <a:srgbClr val="26D9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3209544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DF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unusual requests through a known, trusted channel</a:t>
            </a:r>
            <a:endParaRPr lang="en-US" sz="1140" dirty="0"/>
          </a:p>
        </p:txBody>
      </p:sp>
      <p:sp>
        <p:nvSpPr>
          <p:cNvPr id="15" name="Shape 12"/>
          <p:cNvSpPr/>
          <p:nvPr/>
        </p:nvSpPr>
        <p:spPr>
          <a:xfrm>
            <a:off x="868680" y="4023360"/>
            <a:ext cx="91440" cy="91440"/>
          </a:xfrm>
          <a:prstGeom prst="ellipse">
            <a:avLst/>
          </a:prstGeom>
          <a:solidFill>
            <a:srgbClr val="26D9FF"/>
          </a:solidFill>
          <a:ln w="12700">
            <a:solidFill>
              <a:srgbClr val="26D9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97280" y="3904488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DF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the sender’s full email address and the real domain</a:t>
            </a:r>
            <a:endParaRPr lang="en-US" sz="1140" dirty="0"/>
          </a:p>
        </p:txBody>
      </p:sp>
      <p:sp>
        <p:nvSpPr>
          <p:cNvPr id="17" name="Shape 14"/>
          <p:cNvSpPr/>
          <p:nvPr/>
        </p:nvSpPr>
        <p:spPr>
          <a:xfrm>
            <a:off x="868680" y="4718304"/>
            <a:ext cx="91440" cy="91440"/>
          </a:xfrm>
          <a:prstGeom prst="ellipse">
            <a:avLst/>
          </a:prstGeom>
          <a:solidFill>
            <a:srgbClr val="26D9FF"/>
          </a:solidFill>
          <a:ln w="12700">
            <a:solidFill>
              <a:srgbClr val="26D9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97280" y="4599432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DF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share passwords, recovery codes or OTPs through unsolicited requests</a:t>
            </a:r>
            <a:endParaRPr lang="en-US" sz="1140" dirty="0"/>
          </a:p>
        </p:txBody>
      </p:sp>
      <p:sp>
        <p:nvSpPr>
          <p:cNvPr id="19" name="Shape 16"/>
          <p:cNvSpPr/>
          <p:nvPr/>
        </p:nvSpPr>
        <p:spPr>
          <a:xfrm>
            <a:off x="868680" y="5413248"/>
            <a:ext cx="91440" cy="91440"/>
          </a:xfrm>
          <a:prstGeom prst="ellipse">
            <a:avLst/>
          </a:prstGeom>
          <a:solidFill>
            <a:srgbClr val="26D9FF"/>
          </a:solidFill>
          <a:ln w="12700">
            <a:solidFill>
              <a:srgbClr val="26D9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97280" y="5294376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DF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anything suspicious as soon as possible</a:t>
            </a:r>
            <a:endParaRPr lang="en-US" sz="1140" dirty="0"/>
          </a:p>
        </p:txBody>
      </p:sp>
      <p:sp>
        <p:nvSpPr>
          <p:cNvPr id="21" name="Shape 18"/>
          <p:cNvSpPr/>
          <p:nvPr/>
        </p:nvSpPr>
        <p:spPr>
          <a:xfrm>
            <a:off x="6254496" y="1609344"/>
            <a:ext cx="5358384" cy="4407408"/>
          </a:xfrm>
          <a:prstGeom prst="roundRect">
            <a:avLst>
              <a:gd name="adj" fmla="val 1660"/>
            </a:avLst>
          </a:prstGeom>
          <a:solidFill>
            <a:srgbClr val="12294A"/>
          </a:solidFill>
          <a:ln w="12700">
            <a:solidFill>
              <a:srgbClr val="24466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28816" y="1920240"/>
            <a:ext cx="548640" cy="548640"/>
          </a:xfrm>
          <a:prstGeom prst="ellipse">
            <a:avLst/>
          </a:prstGeom>
          <a:solidFill>
            <a:srgbClr val="173357"/>
          </a:solidFill>
          <a:ln w="12700">
            <a:solidFill>
              <a:srgbClr val="26D9FF">
                <a:alpha val="50000"/>
              </a:srgbClr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0490" y="2051914"/>
            <a:ext cx="285293" cy="285293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260336" y="19476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Safeguards</a:t>
            </a:r>
            <a:endParaRPr lang="en-US" sz="1430" dirty="0"/>
          </a:p>
        </p:txBody>
      </p:sp>
      <p:sp>
        <p:nvSpPr>
          <p:cNvPr id="25" name="Shape 21"/>
          <p:cNvSpPr/>
          <p:nvPr/>
        </p:nvSpPr>
        <p:spPr>
          <a:xfrm>
            <a:off x="6556248" y="2633472"/>
            <a:ext cx="91440" cy="91440"/>
          </a:xfrm>
          <a:prstGeom prst="ellipse">
            <a:avLst/>
          </a:prstGeom>
          <a:solidFill>
            <a:srgbClr val="26D9FF"/>
          </a:solidFill>
          <a:ln w="12700">
            <a:solidFill>
              <a:srgbClr val="26D9F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784848" y="2514600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DF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on multi-factor authentication (MFA) wherever available</a:t>
            </a:r>
            <a:endParaRPr lang="en-US" sz="1140" dirty="0"/>
          </a:p>
        </p:txBody>
      </p:sp>
      <p:sp>
        <p:nvSpPr>
          <p:cNvPr id="27" name="Shape 23"/>
          <p:cNvSpPr/>
          <p:nvPr/>
        </p:nvSpPr>
        <p:spPr>
          <a:xfrm>
            <a:off x="6556248" y="3328416"/>
            <a:ext cx="91440" cy="91440"/>
          </a:xfrm>
          <a:prstGeom prst="ellipse">
            <a:avLst/>
          </a:prstGeom>
          <a:solidFill>
            <a:srgbClr val="26D9FF"/>
          </a:solidFill>
          <a:ln w="12700">
            <a:solidFill>
              <a:srgbClr val="26D9F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784848" y="3209544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DF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operating systems, browsers and security tools updated</a:t>
            </a:r>
            <a:endParaRPr lang="en-US" sz="1140" dirty="0"/>
          </a:p>
        </p:txBody>
      </p:sp>
      <p:sp>
        <p:nvSpPr>
          <p:cNvPr id="29" name="Shape 25"/>
          <p:cNvSpPr/>
          <p:nvPr/>
        </p:nvSpPr>
        <p:spPr>
          <a:xfrm>
            <a:off x="6556248" y="4023360"/>
            <a:ext cx="91440" cy="91440"/>
          </a:xfrm>
          <a:prstGeom prst="ellipse">
            <a:avLst/>
          </a:prstGeom>
          <a:solidFill>
            <a:srgbClr val="26D9FF"/>
          </a:solidFill>
          <a:ln w="12700">
            <a:solidFill>
              <a:srgbClr val="26D9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84848" y="3904488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DF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spam filters and built-in phishing protection in email</a:t>
            </a:r>
            <a:endParaRPr lang="en-US" sz="1140" dirty="0"/>
          </a:p>
        </p:txBody>
      </p:sp>
      <p:sp>
        <p:nvSpPr>
          <p:cNvPr id="31" name="Shape 27"/>
          <p:cNvSpPr/>
          <p:nvPr/>
        </p:nvSpPr>
        <p:spPr>
          <a:xfrm>
            <a:off x="6556248" y="4718304"/>
            <a:ext cx="91440" cy="91440"/>
          </a:xfrm>
          <a:prstGeom prst="ellipse">
            <a:avLst/>
          </a:prstGeom>
          <a:solidFill>
            <a:srgbClr val="26D9FF"/>
          </a:solidFill>
          <a:ln w="12700">
            <a:solidFill>
              <a:srgbClr val="26D9F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784848" y="4599432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DF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password manager to avoid reused passwords</a:t>
            </a:r>
            <a:endParaRPr lang="en-US" sz="1140" dirty="0"/>
          </a:p>
        </p:txBody>
      </p:sp>
      <p:sp>
        <p:nvSpPr>
          <p:cNvPr id="33" name="Shape 29"/>
          <p:cNvSpPr/>
          <p:nvPr/>
        </p:nvSpPr>
        <p:spPr>
          <a:xfrm>
            <a:off x="6556248" y="5413248"/>
            <a:ext cx="91440" cy="91440"/>
          </a:xfrm>
          <a:prstGeom prst="ellipse">
            <a:avLst/>
          </a:prstGeom>
          <a:solidFill>
            <a:srgbClr val="26D9FF"/>
          </a:solidFill>
          <a:ln w="12700">
            <a:solidFill>
              <a:srgbClr val="26D9F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784848" y="5294376"/>
            <a:ext cx="4416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DF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 up important files so malware or ransomware causes less damage</a:t>
            </a:r>
            <a:endParaRPr lang="en-US" sz="1140" dirty="0"/>
          </a:p>
        </p:txBody>
      </p:sp>
      <p:sp>
        <p:nvSpPr>
          <p:cNvPr id="35" name="Shape 31"/>
          <p:cNvSpPr/>
          <p:nvPr/>
        </p:nvSpPr>
        <p:spPr>
          <a:xfrm>
            <a:off x="566928" y="6153912"/>
            <a:ext cx="11045952" cy="310896"/>
          </a:xfrm>
          <a:prstGeom prst="roundRect">
            <a:avLst>
              <a:gd name="adj" fmla="val 23529"/>
            </a:avLst>
          </a:prstGeom>
          <a:solidFill>
            <a:srgbClr val="0B1A2A"/>
          </a:solidFill>
          <a:ln w="12700">
            <a:solidFill>
              <a:srgbClr val="1D4A61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41248" y="6208776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57E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habit: when a message creates pressure, create distance — pause, verify independently, then act.</a:t>
            </a:r>
            <a:endParaRPr lang="en-US" sz="1040" dirty="0"/>
          </a:p>
        </p:txBody>
      </p:sp>
      <p:sp>
        <p:nvSpPr>
          <p:cNvPr id="37" name="Text 33"/>
          <p:cNvSpPr/>
          <p:nvPr/>
        </p:nvSpPr>
        <p:spPr>
          <a:xfrm>
            <a:off x="566928" y="64556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6F879D"/>
                </a:solidFill>
                <a:uFill>
                  <a:solidFill>
                    <a:srgbClr val="6F879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CISA — Secure Our World</a:t>
            </a:r>
            <a:pPr indent="0" marL="0">
              <a:buNone/>
            </a:pPr>
            <a:r>
              <a:rPr lang="en-US" sz="750" dirty="0">
                <a:solidFill>
                  <a:srgbClr val="6F8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750" u="sng" dirty="0">
                <a:solidFill>
                  <a:srgbClr val="6F879D"/>
                </a:solidFill>
                <a:uFill>
                  <a:solidFill>
                    <a:srgbClr val="6F879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CISA — Turn on MFA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0CB5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 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75488" y="72237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Report Phishing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12096" y="320040"/>
            <a:ext cx="1700784" cy="292608"/>
          </a:xfrm>
          <a:prstGeom prst="roundRect">
            <a:avLst>
              <a:gd name="adj" fmla="val 18750"/>
            </a:avLst>
          </a:prstGeom>
          <a:solidFill>
            <a:srgbClr val="4F8FFF">
              <a:alpha val="15000"/>
            </a:srgbClr>
          </a:solidFill>
          <a:ln w="12700">
            <a:solidFill>
              <a:srgbClr val="4F8FFF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85248" y="3474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8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CODEALPHA • TASK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" y="13533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6879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a suspicious message can protect other people from seeing or trusting the same attack.</a:t>
            </a:r>
            <a:endParaRPr lang="en-US" sz="1360" dirty="0"/>
          </a:p>
        </p:txBody>
      </p:sp>
      <p:sp>
        <p:nvSpPr>
          <p:cNvPr id="7" name="Shape 5"/>
          <p:cNvSpPr/>
          <p:nvPr/>
        </p:nvSpPr>
        <p:spPr>
          <a:xfrm>
            <a:off x="1353312" y="2039112"/>
            <a:ext cx="621792" cy="621792"/>
          </a:xfrm>
          <a:prstGeom prst="ellipse">
            <a:avLst/>
          </a:prstGeom>
          <a:solidFill>
            <a:srgbClr val="EAF7FB"/>
          </a:solidFill>
          <a:ln w="12700">
            <a:solidFill>
              <a:srgbClr val="D8EEF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7048" y="221284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297180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0A20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Report Button</a:t>
            </a:r>
            <a:endParaRPr lang="en-US" sz="1210" dirty="0"/>
          </a:p>
        </p:txBody>
      </p:sp>
      <p:sp>
        <p:nvSpPr>
          <p:cNvPr id="10" name="Text 7"/>
          <p:cNvSpPr/>
          <p:nvPr/>
        </p:nvSpPr>
        <p:spPr>
          <a:xfrm>
            <a:off x="621792" y="3675888"/>
            <a:ext cx="2148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778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“Report phishing” / “Report spam” in your email or messaging app when available.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907792" y="2350008"/>
            <a:ext cx="384048" cy="0"/>
          </a:xfrm>
          <a:prstGeom prst="line">
            <a:avLst/>
          </a:prstGeom>
          <a:noFill/>
          <a:ln w="17780">
            <a:solidFill>
              <a:srgbClr val="BCC8D2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169664" y="2039112"/>
            <a:ext cx="621792" cy="621792"/>
          </a:xfrm>
          <a:prstGeom prst="ellipse">
            <a:avLst/>
          </a:prstGeom>
          <a:solidFill>
            <a:srgbClr val="EAF7FB"/>
          </a:solidFill>
          <a:ln w="12700">
            <a:solidFill>
              <a:srgbClr val="D8EEF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3400" y="221284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92424" y="297180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0A20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Notify IT / Security</a:t>
            </a:r>
            <a:endParaRPr lang="en-US" sz="1210" dirty="0"/>
          </a:p>
        </p:txBody>
      </p:sp>
      <p:sp>
        <p:nvSpPr>
          <p:cNvPr id="15" name="Text 11"/>
          <p:cNvSpPr/>
          <p:nvPr/>
        </p:nvSpPr>
        <p:spPr>
          <a:xfrm>
            <a:off x="3438144" y="3675888"/>
            <a:ext cx="2148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778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 or submit the suspicious message using your organization’s approved process.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724144" y="2350008"/>
            <a:ext cx="384048" cy="0"/>
          </a:xfrm>
          <a:prstGeom prst="line">
            <a:avLst/>
          </a:prstGeom>
          <a:noFill/>
          <a:ln w="17780">
            <a:solidFill>
              <a:srgbClr val="BCC8D2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6986016" y="2039112"/>
            <a:ext cx="621792" cy="621792"/>
          </a:xfrm>
          <a:prstGeom prst="ellipse">
            <a:avLst/>
          </a:prstGeom>
          <a:solidFill>
            <a:srgbClr val="EAF7FB"/>
          </a:solidFill>
          <a:ln w="12700">
            <a:solidFill>
              <a:srgbClr val="D8EEF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59752" y="221284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08776" y="297180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0A20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 the Real Company</a:t>
            </a:r>
            <a:endParaRPr lang="en-US" sz="1210" dirty="0"/>
          </a:p>
        </p:txBody>
      </p:sp>
      <p:sp>
        <p:nvSpPr>
          <p:cNvPr id="20" name="Text 15"/>
          <p:cNvSpPr/>
          <p:nvPr/>
        </p:nvSpPr>
        <p:spPr>
          <a:xfrm>
            <a:off x="6254496" y="3675888"/>
            <a:ext cx="2148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778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brand is being impersonated, report it through the company’s official website or support channel.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540496" y="2350008"/>
            <a:ext cx="384048" cy="0"/>
          </a:xfrm>
          <a:prstGeom prst="line">
            <a:avLst/>
          </a:prstGeom>
          <a:noFill/>
          <a:ln w="17780">
            <a:solidFill>
              <a:srgbClr val="BCC8D2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9802368" y="2039112"/>
            <a:ext cx="621792" cy="621792"/>
          </a:xfrm>
          <a:prstGeom prst="ellipse">
            <a:avLst/>
          </a:prstGeom>
          <a:solidFill>
            <a:srgbClr val="EAF7FB"/>
          </a:solidFill>
          <a:ln w="12700">
            <a:solidFill>
              <a:srgbClr val="D8EEF4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76104" y="2212848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25128" y="297180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0A20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Your Account</a:t>
            </a:r>
            <a:endParaRPr lang="en-US" sz="1210" dirty="0"/>
          </a:p>
        </p:txBody>
      </p:sp>
      <p:sp>
        <p:nvSpPr>
          <p:cNvPr id="25" name="Text 19"/>
          <p:cNvSpPr/>
          <p:nvPr/>
        </p:nvSpPr>
        <p:spPr>
          <a:xfrm>
            <a:off x="9070848" y="3675888"/>
            <a:ext cx="2148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778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you clicked or entered details, change the password from the official site and enable MFA.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75488" y="5212080"/>
            <a:ext cx="11137392" cy="841248"/>
          </a:xfrm>
          <a:prstGeom prst="roundRect">
            <a:avLst>
              <a:gd name="adj" fmla="val 8696"/>
            </a:avLst>
          </a:prstGeom>
          <a:solidFill>
            <a:srgbClr val="0A2038"/>
          </a:solidFill>
          <a:ln w="12700">
            <a:solidFill>
              <a:srgbClr val="0A2038"/>
            </a:solidFill>
            <a:prstDash val="solid"/>
          </a:ln>
          <a:effectLst>
            <a:outerShdw sx="100000" sy="100000" kx="0" ky="0" algn="bl" rotWithShape="0" blurRad="15240" dist="50800" dir="2700000">
              <a:srgbClr val="9BAABA">
                <a:alpha val="14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6384" y="5468112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88720" y="53766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spc="100" kern="0" dirty="0">
                <a:solidFill>
                  <a:srgbClr val="2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REMEMBER</a:t>
            </a:r>
            <a:endParaRPr lang="en-US" sz="1020" dirty="0"/>
          </a:p>
        </p:txBody>
      </p:sp>
      <p:sp>
        <p:nvSpPr>
          <p:cNvPr id="29" name="Text 22"/>
          <p:cNvSpPr/>
          <p:nvPr/>
        </p:nvSpPr>
        <p:spPr>
          <a:xfrm>
            <a:off x="2414016" y="534009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is not “over-reacting.” Security teams need suspicious messages reported so they can protect other users and systems.</a:t>
            </a:r>
            <a:endParaRPr lang="en-US" sz="1080" dirty="0"/>
          </a:p>
        </p:txBody>
      </p:sp>
      <p:sp>
        <p:nvSpPr>
          <p:cNvPr id="30" name="Text 23"/>
          <p:cNvSpPr/>
          <p:nvPr/>
        </p:nvSpPr>
        <p:spPr>
          <a:xfrm>
            <a:off x="475488" y="6455664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u="sng" dirty="0">
                <a:solidFill>
                  <a:srgbClr val="98A7B4"/>
                </a:solidFill>
                <a:uFill>
                  <a:solidFill>
                    <a:srgbClr val="98A7B4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CISA — Recognize &amp; Report Phishing</a:t>
            </a:r>
            <a:pPr indent="0" marL="0">
              <a:buNone/>
            </a:pPr>
            <a:r>
              <a:rPr lang="en-US" sz="740" dirty="0">
                <a:solidFill>
                  <a:srgbClr val="98A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740" u="sng" dirty="0">
                <a:solidFill>
                  <a:srgbClr val="98A7B4"/>
                </a:solidFill>
                <a:uFill>
                  <a:solidFill>
                    <a:srgbClr val="98A7B4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FBI — Spoofing &amp; Phishing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1A0A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2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YOUR JUDGMENT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Spot the phish — quick quiz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12096" y="283464"/>
            <a:ext cx="1700784" cy="292608"/>
          </a:xfrm>
          <a:prstGeom prst="roundRect">
            <a:avLst>
              <a:gd name="adj" fmla="val 18750"/>
            </a:avLst>
          </a:prstGeom>
          <a:solidFill>
            <a:srgbClr val="4F8FFF">
              <a:alpha val="15000"/>
            </a:srgbClr>
          </a:solidFill>
          <a:ln w="12700">
            <a:solidFill>
              <a:srgbClr val="4F8FFF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85248" y="3108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8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CODEALPHA • TASK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060704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safest response. The answer key is at the bottom — do not peek too early.</a:t>
            </a:r>
            <a:endParaRPr lang="en-US" sz="1360" dirty="0"/>
          </a:p>
        </p:txBody>
      </p:sp>
      <p:sp>
        <p:nvSpPr>
          <p:cNvPr id="7" name="Shape 5"/>
          <p:cNvSpPr/>
          <p:nvPr/>
        </p:nvSpPr>
        <p:spPr>
          <a:xfrm>
            <a:off x="566928" y="1591056"/>
            <a:ext cx="3246120" cy="4434840"/>
          </a:xfrm>
          <a:prstGeom prst="roundRect">
            <a:avLst>
              <a:gd name="adj" fmla="val 2254"/>
            </a:avLst>
          </a:prstGeom>
          <a:solidFill>
            <a:srgbClr val="0A192A"/>
          </a:solidFill>
          <a:ln w="12700">
            <a:solidFill>
              <a:srgbClr val="1738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1792224"/>
            <a:ext cx="475488" cy="475488"/>
          </a:xfrm>
          <a:prstGeom prst="ellipse">
            <a:avLst/>
          </a:prstGeom>
          <a:solidFill>
            <a:srgbClr val="10243A"/>
          </a:solidFill>
          <a:ln w="12700">
            <a:solidFill>
              <a:srgbClr val="57E6A8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2213" y="1906341"/>
            <a:ext cx="247254" cy="24725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89888" y="1819656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spc="50" kern="0" dirty="0">
                <a:solidFill>
                  <a:srgbClr val="57E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1 — SMS</a:t>
            </a:r>
            <a:endParaRPr lang="en-US" sz="1060" dirty="0"/>
          </a:p>
        </p:txBody>
      </p:sp>
      <p:sp>
        <p:nvSpPr>
          <p:cNvPr id="11" name="Text 8"/>
          <p:cNvSpPr/>
          <p:nvPr/>
        </p:nvSpPr>
        <p:spPr>
          <a:xfrm>
            <a:off x="768096" y="2404872"/>
            <a:ext cx="2788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bank account will be blocked unless you verify it immediately through a link.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8096" y="3493008"/>
            <a:ext cx="2834640" cy="393192"/>
          </a:xfrm>
          <a:prstGeom prst="roundRect">
            <a:avLst>
              <a:gd name="adj" fmla="val 18605"/>
            </a:avLst>
          </a:prstGeom>
          <a:solidFill>
            <a:srgbClr val="0E2033"/>
          </a:solidFill>
          <a:ln w="12700">
            <a:solidFill>
              <a:srgbClr val="193B5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5256" y="356616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Click immediately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768096" y="4005072"/>
            <a:ext cx="2834640" cy="393192"/>
          </a:xfrm>
          <a:prstGeom prst="roundRect">
            <a:avLst>
              <a:gd name="adj" fmla="val 18605"/>
            </a:avLst>
          </a:prstGeom>
          <a:solidFill>
            <a:srgbClr val="0E2033"/>
          </a:solidFill>
          <a:ln w="12700">
            <a:solidFill>
              <a:srgbClr val="193B5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5256" y="407822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Reply with your information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768096" y="4517136"/>
            <a:ext cx="2834640" cy="393192"/>
          </a:xfrm>
          <a:prstGeom prst="roundRect">
            <a:avLst>
              <a:gd name="adj" fmla="val 18605"/>
            </a:avLst>
          </a:prstGeom>
          <a:solidFill>
            <a:srgbClr val="0E2033"/>
          </a:solidFill>
          <a:ln w="12700">
            <a:solidFill>
              <a:srgbClr val="193B5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5256" y="459028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Contact the bank through its official app/number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768096" y="5029200"/>
            <a:ext cx="2834640" cy="393192"/>
          </a:xfrm>
          <a:prstGeom prst="roundRect">
            <a:avLst>
              <a:gd name="adj" fmla="val 18605"/>
            </a:avLst>
          </a:prstGeom>
          <a:solidFill>
            <a:srgbClr val="0E2033"/>
          </a:solidFill>
          <a:ln w="12700">
            <a:solidFill>
              <a:srgbClr val="193B5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5256" y="510235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Forward your OTP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4197096" y="1591056"/>
            <a:ext cx="3246120" cy="4434840"/>
          </a:xfrm>
          <a:prstGeom prst="roundRect">
            <a:avLst>
              <a:gd name="adj" fmla="val 2254"/>
            </a:avLst>
          </a:prstGeom>
          <a:solidFill>
            <a:srgbClr val="0A192A"/>
          </a:solidFill>
          <a:ln w="12700">
            <a:solidFill>
              <a:srgbClr val="17384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398264" y="1792224"/>
            <a:ext cx="475488" cy="475488"/>
          </a:xfrm>
          <a:prstGeom prst="ellipse">
            <a:avLst/>
          </a:prstGeom>
          <a:solidFill>
            <a:srgbClr val="10243A"/>
          </a:solidFill>
          <a:ln w="12700">
            <a:solidFill>
              <a:srgbClr val="4F8FFF">
                <a:alpha val="50000"/>
              </a:srgbClr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12381" y="1906341"/>
            <a:ext cx="247254" cy="24725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020056" y="1819656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spc="50" kern="0" dirty="0">
                <a:solidFill>
                  <a:srgbClr val="4F8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2 — EMAIL</a:t>
            </a:r>
            <a:endParaRPr lang="en-US" sz="1060" dirty="0"/>
          </a:p>
        </p:txBody>
      </p:sp>
      <p:sp>
        <p:nvSpPr>
          <p:cNvPr id="24" name="Text 20"/>
          <p:cNvSpPr/>
          <p:nvPr/>
        </p:nvSpPr>
        <p:spPr>
          <a:xfrm>
            <a:off x="4398264" y="2404872"/>
            <a:ext cx="2788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message from “your manager” asks you to buy gift cards right now and send the codes by email.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398264" y="3493008"/>
            <a:ext cx="2834640" cy="393192"/>
          </a:xfrm>
          <a:prstGeom prst="roundRect">
            <a:avLst>
              <a:gd name="adj" fmla="val 18605"/>
            </a:avLst>
          </a:prstGeom>
          <a:solidFill>
            <a:srgbClr val="0E2033"/>
          </a:solidFill>
          <a:ln w="12700">
            <a:solidFill>
              <a:srgbClr val="193B5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35424" y="356616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Buy them quickly</a:t>
            </a:r>
            <a:endParaRPr lang="en-US" sz="980" dirty="0"/>
          </a:p>
        </p:txBody>
      </p:sp>
      <p:sp>
        <p:nvSpPr>
          <p:cNvPr id="27" name="Shape 23"/>
          <p:cNvSpPr/>
          <p:nvPr/>
        </p:nvSpPr>
        <p:spPr>
          <a:xfrm>
            <a:off x="4398264" y="4005072"/>
            <a:ext cx="2834640" cy="393192"/>
          </a:xfrm>
          <a:prstGeom prst="roundRect">
            <a:avLst>
              <a:gd name="adj" fmla="val 18605"/>
            </a:avLst>
          </a:prstGeom>
          <a:solidFill>
            <a:srgbClr val="0E2033"/>
          </a:solidFill>
          <a:ln w="12700">
            <a:solidFill>
              <a:srgbClr val="193B54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535424" y="407822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Verify the request using a known contact method</a:t>
            </a:r>
            <a:endParaRPr lang="en-US" sz="980" dirty="0"/>
          </a:p>
        </p:txBody>
      </p:sp>
      <p:sp>
        <p:nvSpPr>
          <p:cNvPr id="29" name="Shape 25"/>
          <p:cNvSpPr/>
          <p:nvPr/>
        </p:nvSpPr>
        <p:spPr>
          <a:xfrm>
            <a:off x="4398264" y="4517136"/>
            <a:ext cx="2834640" cy="393192"/>
          </a:xfrm>
          <a:prstGeom prst="roundRect">
            <a:avLst>
              <a:gd name="adj" fmla="val 18605"/>
            </a:avLst>
          </a:prstGeom>
          <a:solidFill>
            <a:srgbClr val="0E2033"/>
          </a:solidFill>
          <a:ln w="12700">
            <a:solidFill>
              <a:srgbClr val="193B5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535424" y="459028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Reply asking for more codes</a:t>
            </a:r>
            <a:endParaRPr lang="en-US" sz="980" dirty="0"/>
          </a:p>
        </p:txBody>
      </p:sp>
      <p:sp>
        <p:nvSpPr>
          <p:cNvPr id="31" name="Shape 27"/>
          <p:cNvSpPr/>
          <p:nvPr/>
        </p:nvSpPr>
        <p:spPr>
          <a:xfrm>
            <a:off x="4398264" y="5029200"/>
            <a:ext cx="2834640" cy="393192"/>
          </a:xfrm>
          <a:prstGeom prst="roundRect">
            <a:avLst>
              <a:gd name="adj" fmla="val 18605"/>
            </a:avLst>
          </a:prstGeom>
          <a:solidFill>
            <a:srgbClr val="0E2033"/>
          </a:solidFill>
          <a:ln w="12700">
            <a:solidFill>
              <a:srgbClr val="193B54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535424" y="510235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Send your card details first</a:t>
            </a:r>
            <a:endParaRPr lang="en-US" sz="980" dirty="0"/>
          </a:p>
        </p:txBody>
      </p:sp>
      <p:sp>
        <p:nvSpPr>
          <p:cNvPr id="33" name="Shape 29"/>
          <p:cNvSpPr/>
          <p:nvPr/>
        </p:nvSpPr>
        <p:spPr>
          <a:xfrm>
            <a:off x="7827264" y="1591056"/>
            <a:ext cx="3246120" cy="4434840"/>
          </a:xfrm>
          <a:prstGeom prst="roundRect">
            <a:avLst>
              <a:gd name="adj" fmla="val 2254"/>
            </a:avLst>
          </a:prstGeom>
          <a:solidFill>
            <a:srgbClr val="0A192A"/>
          </a:solidFill>
          <a:ln w="12700">
            <a:solidFill>
              <a:srgbClr val="17384F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028432" y="1792224"/>
            <a:ext cx="475488" cy="475488"/>
          </a:xfrm>
          <a:prstGeom prst="ellipse">
            <a:avLst/>
          </a:prstGeom>
          <a:solidFill>
            <a:srgbClr val="10243A"/>
          </a:solidFill>
          <a:ln w="12700">
            <a:solidFill>
              <a:srgbClr val="8EDCFF">
                <a:alpha val="50000"/>
              </a:srgbClr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42549" y="1906341"/>
            <a:ext cx="247254" cy="247254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8650224" y="1819656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spc="50" kern="0" dirty="0">
                <a:solidFill>
                  <a:srgbClr val="8E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3 — QR</a:t>
            </a:r>
            <a:endParaRPr lang="en-US" sz="1060" dirty="0"/>
          </a:p>
        </p:txBody>
      </p:sp>
      <p:sp>
        <p:nvSpPr>
          <p:cNvPr id="37" name="Text 32"/>
          <p:cNvSpPr/>
          <p:nvPr/>
        </p:nvSpPr>
        <p:spPr>
          <a:xfrm>
            <a:off x="8028432" y="2404872"/>
            <a:ext cx="2788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random poster says “Free Wi-Fi — scan here” and the page asks for your work email password.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8028432" y="3493008"/>
            <a:ext cx="2834640" cy="393192"/>
          </a:xfrm>
          <a:prstGeom prst="roundRect">
            <a:avLst>
              <a:gd name="adj" fmla="val 18605"/>
            </a:avLst>
          </a:prstGeom>
          <a:solidFill>
            <a:srgbClr val="0E2033"/>
          </a:solidFill>
          <a:ln w="12700">
            <a:solidFill>
              <a:srgbClr val="193B54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165592" y="356616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Enter the password</a:t>
            </a:r>
            <a:endParaRPr lang="en-US" sz="980" dirty="0"/>
          </a:p>
        </p:txBody>
      </p:sp>
      <p:sp>
        <p:nvSpPr>
          <p:cNvPr id="40" name="Shape 35"/>
          <p:cNvSpPr/>
          <p:nvPr/>
        </p:nvSpPr>
        <p:spPr>
          <a:xfrm>
            <a:off x="8028432" y="4005072"/>
            <a:ext cx="2834640" cy="393192"/>
          </a:xfrm>
          <a:prstGeom prst="roundRect">
            <a:avLst>
              <a:gd name="adj" fmla="val 18605"/>
            </a:avLst>
          </a:prstGeom>
          <a:solidFill>
            <a:srgbClr val="0E2033"/>
          </a:solidFill>
          <a:ln w="12700">
            <a:solidFill>
              <a:srgbClr val="193B54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8165592" y="407822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Try a second work account</a:t>
            </a:r>
            <a:endParaRPr lang="en-US" sz="980" dirty="0"/>
          </a:p>
        </p:txBody>
      </p:sp>
      <p:sp>
        <p:nvSpPr>
          <p:cNvPr id="42" name="Shape 37"/>
          <p:cNvSpPr/>
          <p:nvPr/>
        </p:nvSpPr>
        <p:spPr>
          <a:xfrm>
            <a:off x="8028432" y="4517136"/>
            <a:ext cx="2834640" cy="393192"/>
          </a:xfrm>
          <a:prstGeom prst="roundRect">
            <a:avLst>
              <a:gd name="adj" fmla="val 18605"/>
            </a:avLst>
          </a:prstGeom>
          <a:solidFill>
            <a:srgbClr val="0E2033"/>
          </a:solidFill>
          <a:ln w="12700">
            <a:solidFill>
              <a:srgbClr val="193B54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8165592" y="459028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Share the QR with coworkers</a:t>
            </a:r>
            <a:endParaRPr lang="en-US" sz="980" dirty="0"/>
          </a:p>
        </p:txBody>
      </p:sp>
      <p:sp>
        <p:nvSpPr>
          <p:cNvPr id="44" name="Shape 39"/>
          <p:cNvSpPr/>
          <p:nvPr/>
        </p:nvSpPr>
        <p:spPr>
          <a:xfrm>
            <a:off x="8028432" y="5029200"/>
            <a:ext cx="2834640" cy="393192"/>
          </a:xfrm>
          <a:prstGeom prst="roundRect">
            <a:avLst>
              <a:gd name="adj" fmla="val 18605"/>
            </a:avLst>
          </a:prstGeom>
          <a:solidFill>
            <a:srgbClr val="0E2033"/>
          </a:solidFill>
          <a:ln w="12700">
            <a:solidFill>
              <a:srgbClr val="193B54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165592" y="510235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Use the official network instructions instead</a:t>
            </a:r>
            <a:endParaRPr lang="en-US" sz="980" dirty="0"/>
          </a:p>
        </p:txBody>
      </p:sp>
      <p:sp>
        <p:nvSpPr>
          <p:cNvPr id="46" name="Shape 41"/>
          <p:cNvSpPr/>
          <p:nvPr/>
        </p:nvSpPr>
        <p:spPr>
          <a:xfrm>
            <a:off x="566928" y="6181344"/>
            <a:ext cx="10506456" cy="320040"/>
          </a:xfrm>
          <a:prstGeom prst="roundRect">
            <a:avLst>
              <a:gd name="adj" fmla="val 22857"/>
            </a:avLst>
          </a:prstGeom>
          <a:solidFill>
            <a:srgbClr val="112435"/>
          </a:solidFill>
          <a:ln w="12700">
            <a:solidFill>
              <a:srgbClr val="214B6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841248" y="6254496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40" kern="0" dirty="0">
                <a:solidFill>
                  <a:srgbClr val="57E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KEY  •  1: C   •   2: B   •   3: D</a:t>
            </a:r>
            <a:endParaRPr lang="en-US" sz="1050" dirty="0"/>
          </a:p>
        </p:txBody>
      </p:sp>
      <p:sp>
        <p:nvSpPr>
          <p:cNvPr id="48" name="Text 43"/>
          <p:cNvSpPr/>
          <p:nvPr/>
        </p:nvSpPr>
        <p:spPr>
          <a:xfrm>
            <a:off x="10972800" y="621792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F8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scenarios are fictional.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digital_illustration_cgi_scene_on_batch_3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7111F">
              <a:alpha val="97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0B">
              <a:alpha val="45000"/>
            </a:srgbClr>
          </a:solidFill>
          <a:ln w="12700">
            <a:solidFill>
              <a:srgbClr val="02060B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8368" y="621792"/>
            <a:ext cx="1426464" cy="292608"/>
          </a:xfrm>
          <a:prstGeom prst="roundRect">
            <a:avLst>
              <a:gd name="adj" fmla="val 18750"/>
            </a:avLst>
          </a:prstGeom>
          <a:solidFill>
            <a:srgbClr val="26D9FF">
              <a:alpha val="15000"/>
            </a:srgbClr>
          </a:solidFill>
          <a:ln w="12700">
            <a:solidFill>
              <a:srgbClr val="26D9FF">
                <a:alpha val="5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6492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TAKEAWAY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58368" y="123444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THINK BEFORE</a:t>
            </a:r>
            <a:endParaRPr lang="en-US" sz="3700" dirty="0"/>
          </a:p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 CLICK</a:t>
            </a:r>
            <a:endParaRPr lang="en-US" sz="3700" dirty="0"/>
          </a:p>
        </p:txBody>
      </p:sp>
      <p:sp>
        <p:nvSpPr>
          <p:cNvPr id="8" name="Text 5"/>
          <p:cNvSpPr/>
          <p:nvPr/>
        </p:nvSpPr>
        <p:spPr>
          <a:xfrm>
            <a:off x="694944" y="2724912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DCE9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succeeds when deception creates a quick reaction.</a:t>
            </a:r>
            <a:endParaRPr lang="en-US" sz="1720" dirty="0"/>
          </a:p>
        </p:txBody>
      </p:sp>
      <p:sp>
        <p:nvSpPr>
          <p:cNvPr id="9" name="Text 6"/>
          <p:cNvSpPr/>
          <p:nvPr/>
        </p:nvSpPr>
        <p:spPr>
          <a:xfrm>
            <a:off x="694944" y="32369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80" b="1" dirty="0">
                <a:solidFill>
                  <a:srgbClr val="2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Pause. Verify. Report. Protect.</a:t>
            </a:r>
            <a:endParaRPr lang="en-US" sz="1880" dirty="0"/>
          </a:p>
        </p:txBody>
      </p:sp>
      <p:sp>
        <p:nvSpPr>
          <p:cNvPr id="10" name="Shape 7"/>
          <p:cNvSpPr/>
          <p:nvPr/>
        </p:nvSpPr>
        <p:spPr>
          <a:xfrm>
            <a:off x="694944" y="3886200"/>
            <a:ext cx="1051560" cy="384048"/>
          </a:xfrm>
          <a:prstGeom prst="roundRect">
            <a:avLst/>
          </a:prstGeom>
          <a:solidFill>
            <a:srgbClr val="FF667A">
              <a:alpha val="18000"/>
            </a:srgbClr>
          </a:solidFill>
          <a:ln w="12700">
            <a:solidFill>
              <a:srgbClr val="FF667A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" y="395935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spc="80" kern="0" dirty="0">
                <a:solidFill>
                  <a:srgbClr val="FF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1938528" y="39319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react immediately.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694944" y="4443984"/>
            <a:ext cx="1051560" cy="384048"/>
          </a:xfrm>
          <a:prstGeom prst="roundRect">
            <a:avLst/>
          </a:prstGeom>
          <a:solidFill>
            <a:srgbClr val="FFC857">
              <a:alpha val="18000"/>
            </a:srgbClr>
          </a:solidFill>
          <a:ln w="12700">
            <a:solidFill>
              <a:srgbClr val="FFC857">
                <a:alpha val="8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451713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spc="80" kern="0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1938528" y="448970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the sender or request independently.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694944" y="5001768"/>
            <a:ext cx="1051560" cy="384048"/>
          </a:xfrm>
          <a:prstGeom prst="roundRect">
            <a:avLst/>
          </a:prstGeom>
          <a:solidFill>
            <a:srgbClr val="57E6A8">
              <a:alpha val="18000"/>
            </a:srgbClr>
          </a:solidFill>
          <a:ln w="12700">
            <a:solidFill>
              <a:srgbClr val="57E6A8">
                <a:alpha val="8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" y="507492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spc="80" kern="0" dirty="0">
                <a:solidFill>
                  <a:srgbClr val="57E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1938528" y="50474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accounts, credentials and information secure.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694944" y="5751576"/>
            <a:ext cx="4434840" cy="0"/>
          </a:xfrm>
          <a:prstGeom prst="line">
            <a:avLst/>
          </a:prstGeom>
          <a:noFill/>
          <a:ln w="19050">
            <a:solidFill>
              <a:srgbClr val="26D9FF">
                <a:alpha val="7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4944" y="59618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by: Samaa Fatima</a:t>
            </a:r>
            <a:endParaRPr lang="en-US" sz="1060" dirty="0"/>
          </a:p>
        </p:txBody>
      </p:sp>
      <p:sp>
        <p:nvSpPr>
          <p:cNvPr id="21" name="Text 18"/>
          <p:cNvSpPr/>
          <p:nvPr/>
        </p:nvSpPr>
        <p:spPr>
          <a:xfrm>
            <a:off x="694944" y="6263640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9BB0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Cybersecurity Internship — CodeAlpha  •  Task 2: Phishing Awareness Training  •  Awareness-first edition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CodeAlpha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CodeAlpha Cybersecurity Internship — Task 2</dc:subject>
  <dc:creator>Samaa Fatima</dc:creator>
  <cp:lastModifiedBy>Samaa Fatima</cp:lastModifiedBy>
  <cp:revision>1</cp:revision>
  <dcterms:created xsi:type="dcterms:W3CDTF">2026-09-10T16:52:23Z</dcterms:created>
  <dcterms:modified xsi:type="dcterms:W3CDTF">2026-09-10T16:52:23Z</dcterms:modified>
</cp:coreProperties>
</file>